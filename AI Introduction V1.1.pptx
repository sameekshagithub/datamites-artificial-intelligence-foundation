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Lst>
  <p:sldSz cy="5854700" cx="10388600"/>
  <p:notesSz cx="6858000" cy="9144000"/>
  <p:embeddedFontLst>
    <p:embeddedFont>
      <p:font typeface="Poppins"/>
      <p:regular r:id="rId15"/>
      <p:bold r:id="rId16"/>
      <p:italic r:id="rId17"/>
      <p:boldItalic r:id="rId1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19" roundtripDataSignature="AMtx7mhdFYNxSOFq502XxGpZ0ZkSZuya0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font" Target="fonts/Poppins-regular.fntdata"/><Relationship Id="rId14" Type="http://schemas.openxmlformats.org/officeDocument/2006/relationships/slide" Target="slides/slide9.xml"/><Relationship Id="rId17" Type="http://schemas.openxmlformats.org/officeDocument/2006/relationships/font" Target="fonts/Poppins-italic.fntdata"/><Relationship Id="rId16" Type="http://schemas.openxmlformats.org/officeDocument/2006/relationships/font" Target="fonts/Poppins-bold.fntdata"/><Relationship Id="rId5" Type="http://schemas.openxmlformats.org/officeDocument/2006/relationships/notesMaster" Target="notesMasters/notesMaster1.xml"/><Relationship Id="rId19" Type="http://customschemas.google.com/relationships/presentationmetadata" Target="metadata"/><Relationship Id="rId6" Type="http://schemas.openxmlformats.org/officeDocument/2006/relationships/slide" Target="slides/slide1.xml"/><Relationship Id="rId18" Type="http://schemas.openxmlformats.org/officeDocument/2006/relationships/font" Target="fonts/Poppins-boldItalic.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4" name="Google Shape;234;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12"/>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12"/>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1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13"/>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1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1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1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14"/>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14"/>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1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1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1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1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15"/>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15"/>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1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1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1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1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16"/>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16"/>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16"/>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16"/>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1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1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1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1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1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1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1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18"/>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18"/>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18"/>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1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1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1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9"/>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9"/>
          <p:cNvSpPr/>
          <p:nvPr>
            <p:ph idx="2" type="pic"/>
          </p:nvPr>
        </p:nvSpPr>
        <p:spPr>
          <a:xfrm>
            <a:off x="1792288" y="612775"/>
            <a:ext cx="5486400" cy="4114800"/>
          </a:xfrm>
          <a:prstGeom prst="rect">
            <a:avLst/>
          </a:prstGeom>
          <a:noFill/>
          <a:ln>
            <a:noFill/>
          </a:ln>
        </p:spPr>
      </p:sp>
      <p:sp>
        <p:nvSpPr>
          <p:cNvPr id="64" name="Google Shape;64;p19"/>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1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2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20"/>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2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2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2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21"/>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21"/>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2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2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2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0"/>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6.png"/><Relationship Id="rId4" Type="http://schemas.openxmlformats.org/officeDocument/2006/relationships/image" Target="../media/image1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png"/><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6.png"/><Relationship Id="rId4" Type="http://schemas.openxmlformats.org/officeDocument/2006/relationships/image" Target="../media/image1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6.pn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3.png"/><Relationship Id="rId4" Type="http://schemas.openxmlformats.org/officeDocument/2006/relationships/image" Target="../media/image5.png"/><Relationship Id="rId5" Type="http://schemas.openxmlformats.org/officeDocument/2006/relationships/image" Target="../media/image11.png"/><Relationship Id="rId6" Type="http://schemas.openxmlformats.org/officeDocument/2006/relationships/image" Target="../media/image4.png"/><Relationship Id="rId7" Type="http://schemas.openxmlformats.org/officeDocument/2006/relationships/image" Target="../media/image1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3.png"/><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6.png"/><Relationship Id="rId4" Type="http://schemas.openxmlformats.org/officeDocument/2006/relationships/image" Target="../media/image1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pic>
        <p:nvPicPr>
          <p:cNvPr id="84" name="Google Shape;84;p1"/>
          <p:cNvPicPr preferRelativeResize="0"/>
          <p:nvPr/>
        </p:nvPicPr>
        <p:blipFill rotWithShape="1">
          <a:blip r:embed="rId3">
            <a:alphaModFix/>
          </a:blip>
          <a:srcRect b="0" l="1000" r="999" t="0"/>
          <a:stretch/>
        </p:blipFill>
        <p:spPr>
          <a:xfrm>
            <a:off x="0" y="0"/>
            <a:ext cx="10388600" cy="5854700"/>
          </a:xfrm>
          <a:prstGeom prst="rect">
            <a:avLst/>
          </a:prstGeom>
          <a:noFill/>
          <a:ln>
            <a:noFill/>
          </a:ln>
        </p:spPr>
      </p:pic>
      <p:sp>
        <p:nvSpPr>
          <p:cNvPr id="85" name="Google Shape;85;p1"/>
          <p:cNvSpPr/>
          <p:nvPr/>
        </p:nvSpPr>
        <p:spPr>
          <a:xfrm>
            <a:off x="0" y="0"/>
            <a:ext cx="10388600" cy="5854700"/>
          </a:xfrm>
          <a:prstGeom prst="rect">
            <a:avLst/>
          </a:prstGeom>
          <a:solidFill>
            <a:srgbClr val="000000">
              <a:alpha val="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86" name="Google Shape;86;p1"/>
          <p:cNvPicPr preferRelativeResize="0"/>
          <p:nvPr/>
        </p:nvPicPr>
        <p:blipFill rotWithShape="1">
          <a:blip r:embed="rId4">
            <a:alphaModFix/>
          </a:blip>
          <a:srcRect b="0" l="1000" r="999" t="0"/>
          <a:stretch/>
        </p:blipFill>
        <p:spPr>
          <a:xfrm>
            <a:off x="0" y="0"/>
            <a:ext cx="3632200" cy="5854700"/>
          </a:xfrm>
          <a:prstGeom prst="rect">
            <a:avLst/>
          </a:prstGeom>
          <a:noFill/>
          <a:ln>
            <a:noFill/>
          </a:ln>
        </p:spPr>
      </p:pic>
      <p:sp>
        <p:nvSpPr>
          <p:cNvPr id="87" name="Google Shape;87;p1"/>
          <p:cNvSpPr/>
          <p:nvPr/>
        </p:nvSpPr>
        <p:spPr>
          <a:xfrm>
            <a:off x="4445000" y="4533900"/>
            <a:ext cx="5537200" cy="241300"/>
          </a:xfrm>
          <a:prstGeom prst="rect">
            <a:avLst/>
          </a:prstGeom>
          <a:solidFill>
            <a:srgbClr val="000000">
              <a:alpha val="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1"/>
          <p:cNvSpPr/>
          <p:nvPr/>
        </p:nvSpPr>
        <p:spPr>
          <a:xfrm>
            <a:off x="0" y="0"/>
            <a:ext cx="3632200" cy="5854700"/>
          </a:xfrm>
          <a:prstGeom prst="rect">
            <a:avLst/>
          </a:prstGeom>
          <a:solidFill>
            <a:srgbClr val="000000">
              <a:alpha val="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1"/>
          <p:cNvSpPr/>
          <p:nvPr/>
        </p:nvSpPr>
        <p:spPr>
          <a:xfrm>
            <a:off x="3632200" y="762000"/>
            <a:ext cx="3111500" cy="0"/>
          </a:xfrm>
          <a:prstGeom prst="rect">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1"/>
          <p:cNvSpPr/>
          <p:nvPr/>
        </p:nvSpPr>
        <p:spPr>
          <a:xfrm>
            <a:off x="4445000" y="1397000"/>
            <a:ext cx="5537200" cy="3378200"/>
          </a:xfrm>
          <a:prstGeom prst="rect">
            <a:avLst/>
          </a:prstGeom>
          <a:solidFill>
            <a:srgbClr val="00694C">
              <a:alpha val="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1"/>
          <p:cNvSpPr txBox="1"/>
          <p:nvPr/>
        </p:nvSpPr>
        <p:spPr>
          <a:xfrm>
            <a:off x="4445000" y="1397000"/>
            <a:ext cx="5537200" cy="2832100"/>
          </a:xfrm>
          <a:prstGeom prst="rect">
            <a:avLst/>
          </a:prstGeom>
          <a:solidFill>
            <a:srgbClr val="000000">
              <a:alpha val="0"/>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en-US" sz="6200" u="none" cap="none" strike="noStrike">
                <a:solidFill>
                  <a:srgbClr val="226FD4"/>
                </a:solidFill>
                <a:latin typeface="Arial"/>
                <a:ea typeface="Arial"/>
                <a:cs typeface="Arial"/>
                <a:sym typeface="Arial"/>
              </a:rPr>
              <a:t>Artificial Intelligence Foundation</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pic>
        <p:nvPicPr>
          <p:cNvPr id="96" name="Google Shape;96;p2"/>
          <p:cNvPicPr preferRelativeResize="0"/>
          <p:nvPr/>
        </p:nvPicPr>
        <p:blipFill rotWithShape="1">
          <a:blip r:embed="rId3">
            <a:alphaModFix/>
          </a:blip>
          <a:srcRect b="0" l="1000" r="999" t="0"/>
          <a:stretch/>
        </p:blipFill>
        <p:spPr>
          <a:xfrm>
            <a:off x="0" y="0"/>
            <a:ext cx="10388600" cy="5854700"/>
          </a:xfrm>
          <a:prstGeom prst="rect">
            <a:avLst/>
          </a:prstGeom>
          <a:noFill/>
          <a:ln>
            <a:noFill/>
          </a:ln>
        </p:spPr>
      </p:pic>
      <p:sp>
        <p:nvSpPr>
          <p:cNvPr id="97" name="Google Shape;97;p2"/>
          <p:cNvSpPr/>
          <p:nvPr/>
        </p:nvSpPr>
        <p:spPr>
          <a:xfrm>
            <a:off x="0" y="0"/>
            <a:ext cx="10388600" cy="5854700"/>
          </a:xfrm>
          <a:prstGeom prst="rect">
            <a:avLst/>
          </a:prstGeom>
          <a:solidFill>
            <a:srgbClr val="000000">
              <a:alpha val="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98" name="Google Shape;98;p2"/>
          <p:cNvPicPr preferRelativeResize="0"/>
          <p:nvPr/>
        </p:nvPicPr>
        <p:blipFill rotWithShape="1">
          <a:blip r:embed="rId4">
            <a:alphaModFix/>
          </a:blip>
          <a:srcRect b="999" l="0" r="0" t="1000"/>
          <a:stretch/>
        </p:blipFill>
        <p:spPr>
          <a:xfrm>
            <a:off x="0" y="0"/>
            <a:ext cx="10388600" cy="5854700"/>
          </a:xfrm>
          <a:prstGeom prst="rect">
            <a:avLst/>
          </a:prstGeom>
          <a:noFill/>
          <a:ln>
            <a:noFill/>
          </a:ln>
        </p:spPr>
      </p:pic>
      <p:sp>
        <p:nvSpPr>
          <p:cNvPr id="99" name="Google Shape;99;p2"/>
          <p:cNvSpPr/>
          <p:nvPr/>
        </p:nvSpPr>
        <p:spPr>
          <a:xfrm>
            <a:off x="914400" y="2032000"/>
            <a:ext cx="4394200" cy="482600"/>
          </a:xfrm>
          <a:prstGeom prst="rect">
            <a:avLst/>
          </a:prstGeom>
          <a:solidFill>
            <a:srgbClr val="000000">
              <a:alpha val="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2"/>
          <p:cNvSpPr/>
          <p:nvPr/>
        </p:nvSpPr>
        <p:spPr>
          <a:xfrm>
            <a:off x="0" y="0"/>
            <a:ext cx="10388600" cy="5854700"/>
          </a:xfrm>
          <a:prstGeom prst="rect">
            <a:avLst/>
          </a:prstGeom>
          <a:solidFill>
            <a:srgbClr val="000000">
              <a:alpha val="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 name="Google Shape;101;p2"/>
          <p:cNvSpPr/>
          <p:nvPr/>
        </p:nvSpPr>
        <p:spPr>
          <a:xfrm>
            <a:off x="3632200" y="4584700"/>
            <a:ext cx="3111500" cy="0"/>
          </a:xfrm>
          <a:prstGeom prst="rect">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2"/>
          <p:cNvSpPr txBox="1"/>
          <p:nvPr/>
        </p:nvSpPr>
        <p:spPr>
          <a:xfrm>
            <a:off x="914400" y="2819400"/>
            <a:ext cx="4394200" cy="304800"/>
          </a:xfrm>
          <a:prstGeom prst="rect">
            <a:avLst/>
          </a:prstGeom>
          <a:solidFill>
            <a:srgbClr val="000000">
              <a:alpha val="0"/>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en-US" sz="1600" u="none" cap="none" strike="noStrike">
                <a:solidFill>
                  <a:srgbClr val="000000"/>
                </a:solidFill>
                <a:latin typeface="Arial"/>
                <a:ea typeface="Arial"/>
                <a:cs typeface="Arial"/>
                <a:sym typeface="Arial"/>
              </a:rPr>
              <a:t>The Foundations of Intelligence</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pic>
        <p:nvPicPr>
          <p:cNvPr id="107" name="Google Shape;107;p3"/>
          <p:cNvPicPr preferRelativeResize="0"/>
          <p:nvPr/>
        </p:nvPicPr>
        <p:blipFill rotWithShape="1">
          <a:blip r:embed="rId3">
            <a:alphaModFix/>
          </a:blip>
          <a:srcRect b="0" l="1000" r="999" t="0"/>
          <a:stretch/>
        </p:blipFill>
        <p:spPr>
          <a:xfrm>
            <a:off x="0" y="0"/>
            <a:ext cx="10388600" cy="5854700"/>
          </a:xfrm>
          <a:prstGeom prst="rect">
            <a:avLst/>
          </a:prstGeom>
          <a:noFill/>
          <a:ln>
            <a:noFill/>
          </a:ln>
        </p:spPr>
      </p:pic>
      <p:sp>
        <p:nvSpPr>
          <p:cNvPr id="108" name="Google Shape;108;p3"/>
          <p:cNvSpPr/>
          <p:nvPr/>
        </p:nvSpPr>
        <p:spPr>
          <a:xfrm>
            <a:off x="0" y="0"/>
            <a:ext cx="10388600" cy="5854700"/>
          </a:xfrm>
          <a:prstGeom prst="rect">
            <a:avLst/>
          </a:prstGeom>
          <a:solidFill>
            <a:srgbClr val="000000">
              <a:alpha val="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09" name="Google Shape;109;p3"/>
          <p:cNvPicPr preferRelativeResize="0"/>
          <p:nvPr/>
        </p:nvPicPr>
        <p:blipFill rotWithShape="1">
          <a:blip r:embed="rId4">
            <a:alphaModFix/>
          </a:blip>
          <a:srcRect b="0" l="0" r="0" t="0"/>
          <a:stretch/>
        </p:blipFill>
        <p:spPr>
          <a:xfrm>
            <a:off x="1016000" y="1016000"/>
            <a:ext cx="3810000" cy="3810000"/>
          </a:xfrm>
          <a:prstGeom prst="roundRect">
            <a:avLst>
              <a:gd fmla="val 6000" name="adj"/>
            </a:avLst>
          </a:prstGeom>
          <a:noFill/>
          <a:ln>
            <a:noFill/>
          </a:ln>
        </p:spPr>
      </p:pic>
      <p:sp>
        <p:nvSpPr>
          <p:cNvPr id="110" name="Google Shape;110;p3"/>
          <p:cNvSpPr/>
          <p:nvPr/>
        </p:nvSpPr>
        <p:spPr>
          <a:xfrm>
            <a:off x="5410200" y="1016000"/>
            <a:ext cx="3810000" cy="1854200"/>
          </a:xfrm>
          <a:prstGeom prst="rect">
            <a:avLst/>
          </a:prstGeom>
          <a:solidFill>
            <a:srgbClr val="000000">
              <a:alpha val="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3"/>
          <p:cNvSpPr/>
          <p:nvPr/>
        </p:nvSpPr>
        <p:spPr>
          <a:xfrm>
            <a:off x="1016000" y="1016000"/>
            <a:ext cx="3810000" cy="3810000"/>
          </a:xfrm>
          <a:prstGeom prst="rect">
            <a:avLst/>
          </a:prstGeom>
          <a:solidFill>
            <a:srgbClr val="000000">
              <a:alpha val="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3"/>
          <p:cNvSpPr/>
          <p:nvPr/>
        </p:nvSpPr>
        <p:spPr>
          <a:xfrm>
            <a:off x="5410200" y="4203700"/>
            <a:ext cx="635000" cy="25400"/>
          </a:xfrm>
          <a:prstGeom prst="rect">
            <a:avLst/>
          </a:prstGeom>
          <a:solidFill>
            <a:srgbClr val="226F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3"/>
          <p:cNvSpPr txBox="1"/>
          <p:nvPr/>
        </p:nvSpPr>
        <p:spPr>
          <a:xfrm>
            <a:off x="5410200" y="3124200"/>
            <a:ext cx="3810000" cy="850900"/>
          </a:xfrm>
          <a:prstGeom prst="rect">
            <a:avLst/>
          </a:prstGeom>
          <a:solidFill>
            <a:srgbClr val="000000">
              <a:alpha val="0"/>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en-US" sz="2800" u="none" cap="none" strike="noStrike">
                <a:solidFill>
                  <a:srgbClr val="226FD4"/>
                </a:solidFill>
                <a:latin typeface="Arial"/>
                <a:ea typeface="Arial"/>
                <a:cs typeface="Arial"/>
                <a:sym typeface="Arial"/>
              </a:rPr>
              <a:t>Evolution of Human Intelligence</a:t>
            </a:r>
            <a:endParaRPr b="0" i="0" sz="1100" u="none" cap="none" strike="noStrike">
              <a:solidFill>
                <a:schemeClr val="dk1"/>
              </a:solidFill>
              <a:latin typeface="Calibri"/>
              <a:ea typeface="Calibri"/>
              <a:cs typeface="Calibri"/>
              <a:sym typeface="Calibri"/>
            </a:endParaRPr>
          </a:p>
        </p:txBody>
      </p:sp>
      <p:sp>
        <p:nvSpPr>
          <p:cNvPr id="114" name="Google Shape;114;p3"/>
          <p:cNvSpPr txBox="1"/>
          <p:nvPr/>
        </p:nvSpPr>
        <p:spPr>
          <a:xfrm>
            <a:off x="5410200" y="1016000"/>
            <a:ext cx="3810000" cy="241300"/>
          </a:xfrm>
          <a:prstGeom prst="rect">
            <a:avLst/>
          </a:prstGeom>
          <a:solidFill>
            <a:srgbClr val="000000">
              <a:alpha val="0"/>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en-US" sz="1600" u="none" cap="none" strike="noStrike">
                <a:solidFill>
                  <a:srgbClr val="000000"/>
                </a:solidFill>
                <a:latin typeface="Arial"/>
                <a:ea typeface="Arial"/>
                <a:cs typeface="Arial"/>
                <a:sym typeface="Arial"/>
              </a:rPr>
              <a:t>Cognitive Milestones Overview</a:t>
            </a:r>
            <a:endParaRPr b="0" i="0" sz="1100" u="none" cap="none" strike="noStrike">
              <a:solidFill>
                <a:schemeClr val="dk1"/>
              </a:solidFill>
              <a:latin typeface="Calibri"/>
              <a:ea typeface="Calibri"/>
              <a:cs typeface="Calibri"/>
              <a:sym typeface="Calibri"/>
            </a:endParaRPr>
          </a:p>
        </p:txBody>
      </p:sp>
      <p:sp>
        <p:nvSpPr>
          <p:cNvPr id="115" name="Google Shape;115;p3"/>
          <p:cNvSpPr txBox="1"/>
          <p:nvPr/>
        </p:nvSpPr>
        <p:spPr>
          <a:xfrm>
            <a:off x="5410200" y="1384300"/>
            <a:ext cx="3810000" cy="1485900"/>
          </a:xfrm>
          <a:prstGeom prst="rect">
            <a:avLst/>
          </a:prstGeom>
          <a:solidFill>
            <a:srgbClr val="000000">
              <a:alpha val="0"/>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i="0" lang="en-US" sz="1400" u="none" cap="none" strike="noStrike">
                <a:solidFill>
                  <a:srgbClr val="69749F"/>
                </a:solidFill>
                <a:latin typeface="Arial"/>
                <a:ea typeface="Arial"/>
                <a:cs typeface="Arial"/>
                <a:sym typeface="Arial"/>
              </a:rPr>
              <a:t>The evolution of human intelligence is marked by critical milestones such as the development of complex tools, the advent of language facilitating advanced communication, and the emergence of symbolic thought, all of which reflect significant cognitive advancements that distinguish humans from other species.</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pic>
        <p:nvPicPr>
          <p:cNvPr id="120" name="Google Shape;120;p4"/>
          <p:cNvPicPr preferRelativeResize="0"/>
          <p:nvPr/>
        </p:nvPicPr>
        <p:blipFill rotWithShape="1">
          <a:blip r:embed="rId3">
            <a:alphaModFix/>
          </a:blip>
          <a:srcRect b="0" l="1000" r="999" t="0"/>
          <a:stretch/>
        </p:blipFill>
        <p:spPr>
          <a:xfrm>
            <a:off x="0" y="0"/>
            <a:ext cx="10388600" cy="5854700"/>
          </a:xfrm>
          <a:prstGeom prst="rect">
            <a:avLst/>
          </a:prstGeom>
          <a:noFill/>
          <a:ln>
            <a:noFill/>
          </a:ln>
        </p:spPr>
      </p:pic>
      <p:sp>
        <p:nvSpPr>
          <p:cNvPr id="121" name="Google Shape;121;p4"/>
          <p:cNvSpPr/>
          <p:nvPr/>
        </p:nvSpPr>
        <p:spPr>
          <a:xfrm>
            <a:off x="0" y="0"/>
            <a:ext cx="10388600" cy="5854700"/>
          </a:xfrm>
          <a:prstGeom prst="rect">
            <a:avLst/>
          </a:prstGeom>
          <a:solidFill>
            <a:srgbClr val="000000">
              <a:alpha val="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22" name="Google Shape;122;p4"/>
          <p:cNvPicPr preferRelativeResize="0"/>
          <p:nvPr/>
        </p:nvPicPr>
        <p:blipFill rotWithShape="1">
          <a:blip r:embed="rId4">
            <a:alphaModFix/>
          </a:blip>
          <a:srcRect b="0" l="0" r="0" t="0"/>
          <a:stretch/>
        </p:blipFill>
        <p:spPr>
          <a:xfrm>
            <a:off x="5410200" y="1016000"/>
            <a:ext cx="3810000" cy="3810000"/>
          </a:xfrm>
          <a:prstGeom prst="roundRect">
            <a:avLst>
              <a:gd fmla="val 6000" name="adj"/>
            </a:avLst>
          </a:prstGeom>
          <a:noFill/>
          <a:ln>
            <a:noFill/>
          </a:ln>
        </p:spPr>
      </p:pic>
      <p:sp>
        <p:nvSpPr>
          <p:cNvPr id="123" name="Google Shape;123;p4"/>
          <p:cNvSpPr/>
          <p:nvPr/>
        </p:nvSpPr>
        <p:spPr>
          <a:xfrm>
            <a:off x="1016000" y="2120900"/>
            <a:ext cx="3810000" cy="1714500"/>
          </a:xfrm>
          <a:prstGeom prst="rect">
            <a:avLst/>
          </a:prstGeom>
          <a:solidFill>
            <a:srgbClr val="000000">
              <a:alpha val="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4"/>
          <p:cNvSpPr/>
          <p:nvPr/>
        </p:nvSpPr>
        <p:spPr>
          <a:xfrm>
            <a:off x="5410200" y="1016000"/>
            <a:ext cx="3810000" cy="3810000"/>
          </a:xfrm>
          <a:prstGeom prst="rect">
            <a:avLst/>
          </a:prstGeom>
          <a:solidFill>
            <a:srgbClr val="000000">
              <a:alpha val="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4"/>
          <p:cNvSpPr/>
          <p:nvPr/>
        </p:nvSpPr>
        <p:spPr>
          <a:xfrm>
            <a:off x="1016000" y="2095500"/>
            <a:ext cx="635000" cy="25400"/>
          </a:xfrm>
          <a:prstGeom prst="rect">
            <a:avLst/>
          </a:prstGeom>
          <a:solidFill>
            <a:srgbClr val="226F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p4"/>
          <p:cNvSpPr txBox="1"/>
          <p:nvPr/>
        </p:nvSpPr>
        <p:spPr>
          <a:xfrm>
            <a:off x="1016000" y="1016000"/>
            <a:ext cx="3810000" cy="850900"/>
          </a:xfrm>
          <a:prstGeom prst="rect">
            <a:avLst/>
          </a:prstGeom>
          <a:solidFill>
            <a:srgbClr val="000000">
              <a:alpha val="0"/>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en-US" sz="2800" u="none" cap="none" strike="noStrike">
                <a:solidFill>
                  <a:srgbClr val="226FD4"/>
                </a:solidFill>
                <a:latin typeface="Arial"/>
                <a:ea typeface="Arial"/>
                <a:cs typeface="Arial"/>
                <a:sym typeface="Arial"/>
              </a:rPr>
              <a:t>What Is Artificial Intelligence?</a:t>
            </a:r>
            <a:endParaRPr b="0" i="0" sz="1100" u="none" cap="none" strike="noStrike">
              <a:solidFill>
                <a:schemeClr val="dk1"/>
              </a:solidFill>
              <a:latin typeface="Calibri"/>
              <a:ea typeface="Calibri"/>
              <a:cs typeface="Calibri"/>
              <a:sym typeface="Calibri"/>
            </a:endParaRPr>
          </a:p>
        </p:txBody>
      </p:sp>
      <p:sp>
        <p:nvSpPr>
          <p:cNvPr id="127" name="Google Shape;127;p4"/>
          <p:cNvSpPr txBox="1"/>
          <p:nvPr/>
        </p:nvSpPr>
        <p:spPr>
          <a:xfrm>
            <a:off x="1016000" y="2374900"/>
            <a:ext cx="3810000" cy="266700"/>
          </a:xfrm>
          <a:prstGeom prst="rect">
            <a:avLst/>
          </a:prstGeom>
          <a:solidFill>
            <a:srgbClr val="000000">
              <a:alpha val="0"/>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en-US" sz="1800" u="none" cap="none" strike="noStrike">
                <a:solidFill>
                  <a:srgbClr val="000000"/>
                </a:solidFill>
                <a:latin typeface="Arial"/>
                <a:ea typeface="Arial"/>
                <a:cs typeface="Arial"/>
                <a:sym typeface="Arial"/>
              </a:rPr>
              <a:t>Definition and Purpose</a:t>
            </a:r>
            <a:endParaRPr b="0" i="0" sz="1100" u="none" cap="none" strike="noStrike">
              <a:solidFill>
                <a:schemeClr val="dk1"/>
              </a:solidFill>
              <a:latin typeface="Calibri"/>
              <a:ea typeface="Calibri"/>
              <a:cs typeface="Calibri"/>
              <a:sym typeface="Calibri"/>
            </a:endParaRPr>
          </a:p>
        </p:txBody>
      </p:sp>
      <p:sp>
        <p:nvSpPr>
          <p:cNvPr id="128" name="Google Shape;128;p4"/>
          <p:cNvSpPr txBox="1"/>
          <p:nvPr/>
        </p:nvSpPr>
        <p:spPr>
          <a:xfrm>
            <a:off x="1016000" y="2768600"/>
            <a:ext cx="3810000" cy="1054100"/>
          </a:xfrm>
          <a:prstGeom prst="rect">
            <a:avLst/>
          </a:prstGeom>
          <a:solidFill>
            <a:srgbClr val="000000">
              <a:alpha val="0"/>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i="0" lang="en-US" sz="1400" u="none" cap="none" strike="noStrike">
                <a:solidFill>
                  <a:srgbClr val="69749F"/>
                </a:solidFill>
                <a:latin typeface="Arial"/>
                <a:ea typeface="Arial"/>
                <a:cs typeface="Arial"/>
                <a:sym typeface="Arial"/>
              </a:rPr>
              <a:t>Artificial Intelligence encompasses the development of algorithms and systems that enable machines to perform tasks requiring human-like cognitive functions, aiming to enhance automation, efficiency, and decision-making across various applications.</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pic>
        <p:nvPicPr>
          <p:cNvPr id="133" name="Google Shape;133;p5"/>
          <p:cNvPicPr preferRelativeResize="0"/>
          <p:nvPr/>
        </p:nvPicPr>
        <p:blipFill rotWithShape="1">
          <a:blip r:embed="rId3">
            <a:alphaModFix/>
          </a:blip>
          <a:srcRect b="0" l="11000" r="11000" t="0"/>
          <a:stretch/>
        </p:blipFill>
        <p:spPr>
          <a:xfrm>
            <a:off x="0" y="0"/>
            <a:ext cx="10388600" cy="7404100"/>
          </a:xfrm>
          <a:prstGeom prst="rect">
            <a:avLst/>
          </a:prstGeom>
          <a:noFill/>
          <a:ln>
            <a:noFill/>
          </a:ln>
        </p:spPr>
      </p:pic>
      <p:sp>
        <p:nvSpPr>
          <p:cNvPr id="134" name="Google Shape;134;p5"/>
          <p:cNvSpPr/>
          <p:nvPr/>
        </p:nvSpPr>
        <p:spPr>
          <a:xfrm>
            <a:off x="0" y="0"/>
            <a:ext cx="10388600" cy="7404100"/>
          </a:xfrm>
          <a:prstGeom prst="rect">
            <a:avLst/>
          </a:prstGeom>
          <a:solidFill>
            <a:srgbClr val="000000">
              <a:alpha val="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5"/>
          <p:cNvSpPr/>
          <p:nvPr/>
        </p:nvSpPr>
        <p:spPr>
          <a:xfrm>
            <a:off x="508000" y="4102100"/>
            <a:ext cx="1562100" cy="0"/>
          </a:xfrm>
          <a:prstGeom prst="rect">
            <a:avLst/>
          </a:prstGeom>
          <a:solidFill>
            <a:srgbClr val="000000">
              <a:alpha val="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5"/>
          <p:cNvSpPr/>
          <p:nvPr/>
        </p:nvSpPr>
        <p:spPr>
          <a:xfrm>
            <a:off x="2070100" y="4102100"/>
            <a:ext cx="1562100" cy="0"/>
          </a:xfrm>
          <a:prstGeom prst="rect">
            <a:avLst/>
          </a:prstGeom>
          <a:solidFill>
            <a:srgbClr val="000000">
              <a:alpha val="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5"/>
          <p:cNvSpPr/>
          <p:nvPr/>
        </p:nvSpPr>
        <p:spPr>
          <a:xfrm>
            <a:off x="3632200" y="4102100"/>
            <a:ext cx="1562100" cy="0"/>
          </a:xfrm>
          <a:prstGeom prst="rect">
            <a:avLst/>
          </a:prstGeom>
          <a:solidFill>
            <a:srgbClr val="000000">
              <a:alpha val="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5"/>
          <p:cNvSpPr/>
          <p:nvPr/>
        </p:nvSpPr>
        <p:spPr>
          <a:xfrm>
            <a:off x="5194300" y="4102100"/>
            <a:ext cx="1562100" cy="0"/>
          </a:xfrm>
          <a:prstGeom prst="rect">
            <a:avLst/>
          </a:prstGeom>
          <a:solidFill>
            <a:srgbClr val="000000">
              <a:alpha val="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5"/>
          <p:cNvSpPr/>
          <p:nvPr/>
        </p:nvSpPr>
        <p:spPr>
          <a:xfrm>
            <a:off x="6756400" y="4102100"/>
            <a:ext cx="1562100" cy="0"/>
          </a:xfrm>
          <a:prstGeom prst="rect">
            <a:avLst/>
          </a:prstGeom>
          <a:solidFill>
            <a:srgbClr val="000000">
              <a:alpha val="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p5"/>
          <p:cNvSpPr/>
          <p:nvPr/>
        </p:nvSpPr>
        <p:spPr>
          <a:xfrm>
            <a:off x="8318500" y="4102100"/>
            <a:ext cx="1562100" cy="0"/>
          </a:xfrm>
          <a:prstGeom prst="rect">
            <a:avLst/>
          </a:prstGeom>
          <a:solidFill>
            <a:srgbClr val="000000">
              <a:alpha val="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p5"/>
          <p:cNvSpPr/>
          <p:nvPr/>
        </p:nvSpPr>
        <p:spPr>
          <a:xfrm>
            <a:off x="508000" y="4102100"/>
            <a:ext cx="9372600" cy="50800"/>
          </a:xfrm>
          <a:prstGeom prst="roundRect">
            <a:avLst>
              <a:gd fmla="val 50000" name="adj"/>
            </a:avLst>
          </a:prstGeom>
          <a:solidFill>
            <a:srgbClr val="7EC1F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5"/>
          <p:cNvSpPr txBox="1"/>
          <p:nvPr/>
        </p:nvSpPr>
        <p:spPr>
          <a:xfrm>
            <a:off x="508000" y="762000"/>
            <a:ext cx="9372600" cy="419100"/>
          </a:xfrm>
          <a:prstGeom prst="rect">
            <a:avLst/>
          </a:prstGeom>
          <a:solidFill>
            <a:srgbClr val="000000">
              <a:alpha val="0"/>
            </a:srgbClr>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2800" u="none" cap="none" strike="noStrike">
                <a:solidFill>
                  <a:srgbClr val="226FD4"/>
                </a:solidFill>
                <a:latin typeface="Arial"/>
                <a:ea typeface="Arial"/>
                <a:cs typeface="Arial"/>
                <a:sym typeface="Arial"/>
              </a:rPr>
              <a:t>History of Artificial Intelligence</a:t>
            </a:r>
            <a:endParaRPr b="0" i="0" sz="1100" u="none" cap="none" strike="noStrike">
              <a:solidFill>
                <a:schemeClr val="dk1"/>
              </a:solidFill>
              <a:latin typeface="Calibri"/>
              <a:ea typeface="Calibri"/>
              <a:cs typeface="Calibri"/>
              <a:sym typeface="Calibri"/>
            </a:endParaRPr>
          </a:p>
        </p:txBody>
      </p:sp>
      <p:sp>
        <p:nvSpPr>
          <p:cNvPr id="143" name="Google Shape;143;p5"/>
          <p:cNvSpPr/>
          <p:nvPr/>
        </p:nvSpPr>
        <p:spPr>
          <a:xfrm>
            <a:off x="774700" y="3035300"/>
            <a:ext cx="1016000" cy="736600"/>
          </a:xfrm>
          <a:prstGeom prst="roundRect">
            <a:avLst>
              <a:gd fmla="val 34482" name="adj"/>
            </a:avLst>
          </a:prstGeom>
          <a:solidFill>
            <a:srgbClr val="7EC1F7"/>
          </a:solidFill>
          <a:ln>
            <a:noFill/>
          </a:ln>
        </p:spPr>
        <p:txBody>
          <a:bodyPr anchorCtr="0" anchor="ctr" bIns="0" lIns="0" spcFirstLastPara="1" rIns="0" wrap="square" tIns="0">
            <a:noAutofit/>
          </a:bodyPr>
          <a:lstStyle/>
          <a:p>
            <a:pPr indent="12700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1956</a:t>
            </a:r>
            <a:endParaRPr b="0" i="0" sz="1100" u="none" cap="none" strike="noStrike">
              <a:solidFill>
                <a:schemeClr val="dk1"/>
              </a:solidFill>
              <a:latin typeface="Calibri"/>
              <a:ea typeface="Calibri"/>
              <a:cs typeface="Calibri"/>
              <a:sym typeface="Calibri"/>
            </a:endParaRPr>
          </a:p>
        </p:txBody>
      </p:sp>
      <p:sp>
        <p:nvSpPr>
          <p:cNvPr id="144" name="Google Shape;144;p5"/>
          <p:cNvSpPr/>
          <p:nvPr/>
        </p:nvSpPr>
        <p:spPr>
          <a:xfrm>
            <a:off x="2336800" y="4419600"/>
            <a:ext cx="1016000" cy="736600"/>
          </a:xfrm>
          <a:prstGeom prst="roundRect">
            <a:avLst>
              <a:gd fmla="val 34482" name="adj"/>
            </a:avLst>
          </a:prstGeom>
          <a:solidFill>
            <a:srgbClr val="548DDA"/>
          </a:solidFill>
          <a:ln>
            <a:noFill/>
          </a:ln>
        </p:spPr>
        <p:txBody>
          <a:bodyPr anchorCtr="0" anchor="ctr" bIns="0" lIns="0" spcFirstLastPara="1" rIns="0" wrap="square" tIns="0">
            <a:noAutofit/>
          </a:bodyPr>
          <a:lstStyle/>
          <a:p>
            <a:pPr indent="12700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1966</a:t>
            </a:r>
            <a:endParaRPr b="0" i="0" sz="1100" u="none" cap="none" strike="noStrike">
              <a:solidFill>
                <a:schemeClr val="dk1"/>
              </a:solidFill>
              <a:latin typeface="Calibri"/>
              <a:ea typeface="Calibri"/>
              <a:cs typeface="Calibri"/>
              <a:sym typeface="Calibri"/>
            </a:endParaRPr>
          </a:p>
        </p:txBody>
      </p:sp>
      <p:sp>
        <p:nvSpPr>
          <p:cNvPr id="145" name="Google Shape;145;p5"/>
          <p:cNvSpPr/>
          <p:nvPr/>
        </p:nvSpPr>
        <p:spPr>
          <a:xfrm>
            <a:off x="3898900" y="3035300"/>
            <a:ext cx="1016000" cy="736600"/>
          </a:xfrm>
          <a:prstGeom prst="roundRect">
            <a:avLst>
              <a:gd fmla="val 34482" name="adj"/>
            </a:avLst>
          </a:prstGeom>
          <a:solidFill>
            <a:srgbClr val="7EC1F7"/>
          </a:solidFill>
          <a:ln>
            <a:noFill/>
          </a:ln>
        </p:spPr>
        <p:txBody>
          <a:bodyPr anchorCtr="0" anchor="ctr" bIns="0" lIns="0" spcFirstLastPara="1" rIns="0" wrap="square" tIns="0">
            <a:noAutofit/>
          </a:bodyPr>
          <a:lstStyle/>
          <a:p>
            <a:pPr indent="12700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1970s</a:t>
            </a:r>
            <a:endParaRPr b="0" i="0" sz="1100" u="none" cap="none" strike="noStrike">
              <a:solidFill>
                <a:schemeClr val="dk1"/>
              </a:solidFill>
              <a:latin typeface="Calibri"/>
              <a:ea typeface="Calibri"/>
              <a:cs typeface="Calibri"/>
              <a:sym typeface="Calibri"/>
            </a:endParaRPr>
          </a:p>
        </p:txBody>
      </p:sp>
      <p:sp>
        <p:nvSpPr>
          <p:cNvPr id="146" name="Google Shape;146;p5"/>
          <p:cNvSpPr/>
          <p:nvPr/>
        </p:nvSpPr>
        <p:spPr>
          <a:xfrm>
            <a:off x="5461000" y="4419600"/>
            <a:ext cx="1016000" cy="736600"/>
          </a:xfrm>
          <a:prstGeom prst="roundRect">
            <a:avLst>
              <a:gd fmla="val 34482" name="adj"/>
            </a:avLst>
          </a:prstGeom>
          <a:solidFill>
            <a:srgbClr val="548DDA"/>
          </a:solidFill>
          <a:ln>
            <a:noFill/>
          </a:ln>
        </p:spPr>
        <p:txBody>
          <a:bodyPr anchorCtr="0" anchor="ctr" bIns="0" lIns="0" spcFirstLastPara="1" rIns="0" wrap="square" tIns="0">
            <a:noAutofit/>
          </a:bodyPr>
          <a:lstStyle/>
          <a:p>
            <a:pPr indent="12700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1980s</a:t>
            </a:r>
            <a:endParaRPr b="0" i="0" sz="1100" u="none" cap="none" strike="noStrike">
              <a:solidFill>
                <a:schemeClr val="dk1"/>
              </a:solidFill>
              <a:latin typeface="Calibri"/>
              <a:ea typeface="Calibri"/>
              <a:cs typeface="Calibri"/>
              <a:sym typeface="Calibri"/>
            </a:endParaRPr>
          </a:p>
        </p:txBody>
      </p:sp>
      <p:sp>
        <p:nvSpPr>
          <p:cNvPr id="147" name="Google Shape;147;p5"/>
          <p:cNvSpPr/>
          <p:nvPr/>
        </p:nvSpPr>
        <p:spPr>
          <a:xfrm>
            <a:off x="7023100" y="3035300"/>
            <a:ext cx="1016000" cy="736600"/>
          </a:xfrm>
          <a:prstGeom prst="roundRect">
            <a:avLst>
              <a:gd fmla="val 34482" name="adj"/>
            </a:avLst>
          </a:prstGeom>
          <a:solidFill>
            <a:srgbClr val="7EC1F7"/>
          </a:solidFill>
          <a:ln>
            <a:noFill/>
          </a:ln>
        </p:spPr>
        <p:txBody>
          <a:bodyPr anchorCtr="0" anchor="ctr" bIns="0" lIns="0" spcFirstLastPara="1" rIns="0" wrap="square" tIns="0">
            <a:noAutofit/>
          </a:bodyPr>
          <a:lstStyle/>
          <a:p>
            <a:pPr indent="12700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2012</a:t>
            </a:r>
            <a:endParaRPr b="0" i="0" sz="1100" u="none" cap="none" strike="noStrike">
              <a:solidFill>
                <a:schemeClr val="dk1"/>
              </a:solidFill>
              <a:latin typeface="Calibri"/>
              <a:ea typeface="Calibri"/>
              <a:cs typeface="Calibri"/>
              <a:sym typeface="Calibri"/>
            </a:endParaRPr>
          </a:p>
        </p:txBody>
      </p:sp>
      <p:sp>
        <p:nvSpPr>
          <p:cNvPr id="148" name="Google Shape;148;p5"/>
          <p:cNvSpPr/>
          <p:nvPr/>
        </p:nvSpPr>
        <p:spPr>
          <a:xfrm>
            <a:off x="8585200" y="4419600"/>
            <a:ext cx="1016000" cy="736600"/>
          </a:xfrm>
          <a:prstGeom prst="roundRect">
            <a:avLst>
              <a:gd fmla="val 34482" name="adj"/>
            </a:avLst>
          </a:prstGeom>
          <a:solidFill>
            <a:srgbClr val="548DDA"/>
          </a:solidFill>
          <a:ln>
            <a:noFill/>
          </a:ln>
        </p:spPr>
        <p:txBody>
          <a:bodyPr anchorCtr="0" anchor="ctr" bIns="0" lIns="0" spcFirstLastPara="1" rIns="0" wrap="square" tIns="0">
            <a:noAutofit/>
          </a:bodyPr>
          <a:lstStyle/>
          <a:p>
            <a:pPr indent="12700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2023</a:t>
            </a:r>
            <a:endParaRPr b="0" i="0" sz="1100" u="none" cap="none" strike="noStrike">
              <a:solidFill>
                <a:schemeClr val="dk1"/>
              </a:solidFill>
              <a:latin typeface="Calibri"/>
              <a:ea typeface="Calibri"/>
              <a:cs typeface="Calibri"/>
              <a:sym typeface="Calibri"/>
            </a:endParaRPr>
          </a:p>
        </p:txBody>
      </p:sp>
      <p:sp>
        <p:nvSpPr>
          <p:cNvPr id="149" name="Google Shape;149;p5"/>
          <p:cNvSpPr/>
          <p:nvPr/>
        </p:nvSpPr>
        <p:spPr>
          <a:xfrm>
            <a:off x="381000" y="4419600"/>
            <a:ext cx="1803400" cy="1384300"/>
          </a:xfrm>
          <a:prstGeom prst="roundRect">
            <a:avLst>
              <a:gd fmla="val 18348" name="adj"/>
            </a:avLst>
          </a:prstGeom>
          <a:solidFill>
            <a:srgbClr val="7EC1F7"/>
          </a:solidFill>
          <a:ln>
            <a:noFill/>
          </a:ln>
        </p:spPr>
        <p:txBody>
          <a:bodyPr anchorCtr="0" anchor="ctr" bIns="0" lIns="0" spcFirstLastPara="1" rIns="0" wrap="square" tIns="0">
            <a:noAutofit/>
          </a:bodyPr>
          <a:lstStyle/>
          <a:p>
            <a:pPr indent="127000" lvl="0" marL="0" marR="0" rtl="0" algn="ctr">
              <a:lnSpc>
                <a:spcPct val="100000"/>
              </a:lnSpc>
              <a:spcBef>
                <a:spcPts val="0"/>
              </a:spcBef>
              <a:spcAft>
                <a:spcPts val="0"/>
              </a:spcAft>
              <a:buNone/>
            </a:pPr>
            <a:r>
              <a:rPr b="0" i="0" lang="en-US" sz="1200" u="none" cap="none" strike="noStrike">
                <a:solidFill>
                  <a:srgbClr val="FFFFFF"/>
                </a:solidFill>
                <a:latin typeface="Arial"/>
                <a:ea typeface="Arial"/>
                <a:cs typeface="Arial"/>
                <a:sym typeface="Arial"/>
              </a:rPr>
              <a:t>The Dartmouth Conference marks the formal birth of AI as an academic discipline.</a:t>
            </a:r>
            <a:endParaRPr b="0" i="0" sz="1100" u="none" cap="none" strike="noStrike">
              <a:solidFill>
                <a:schemeClr val="dk1"/>
              </a:solidFill>
              <a:latin typeface="Calibri"/>
              <a:ea typeface="Calibri"/>
              <a:cs typeface="Calibri"/>
              <a:sym typeface="Calibri"/>
            </a:endParaRPr>
          </a:p>
        </p:txBody>
      </p:sp>
      <p:sp>
        <p:nvSpPr>
          <p:cNvPr id="150" name="Google Shape;150;p5"/>
          <p:cNvSpPr/>
          <p:nvPr/>
        </p:nvSpPr>
        <p:spPr>
          <a:xfrm>
            <a:off x="1943100" y="2400300"/>
            <a:ext cx="1803400" cy="1384300"/>
          </a:xfrm>
          <a:prstGeom prst="roundRect">
            <a:avLst>
              <a:gd fmla="val 18348" name="adj"/>
            </a:avLst>
          </a:prstGeom>
          <a:solidFill>
            <a:srgbClr val="548DDA"/>
          </a:solidFill>
          <a:ln>
            <a:noFill/>
          </a:ln>
        </p:spPr>
        <p:txBody>
          <a:bodyPr anchorCtr="0" anchor="ctr" bIns="0" lIns="0" spcFirstLastPara="1" rIns="0" wrap="square" tIns="0">
            <a:noAutofit/>
          </a:bodyPr>
          <a:lstStyle/>
          <a:p>
            <a:pPr indent="127000" lvl="0" marL="0" marR="0" rtl="0" algn="ctr">
              <a:lnSpc>
                <a:spcPct val="100000"/>
              </a:lnSpc>
              <a:spcBef>
                <a:spcPts val="0"/>
              </a:spcBef>
              <a:spcAft>
                <a:spcPts val="0"/>
              </a:spcAft>
              <a:buNone/>
            </a:pPr>
            <a:r>
              <a:rPr b="0" i="0" lang="en-US" sz="1200" u="none" cap="none" strike="noStrike">
                <a:solidFill>
                  <a:srgbClr val="FFFFFF"/>
                </a:solidFill>
                <a:latin typeface="Arial"/>
                <a:ea typeface="Arial"/>
                <a:cs typeface="Arial"/>
                <a:sym typeface="Arial"/>
              </a:rPr>
              <a:t>ELIZA, an early natural language processing program, simulates conversation with users.</a:t>
            </a:r>
            <a:endParaRPr b="0" i="0" sz="1100" u="none" cap="none" strike="noStrike">
              <a:solidFill>
                <a:schemeClr val="dk1"/>
              </a:solidFill>
              <a:latin typeface="Calibri"/>
              <a:ea typeface="Calibri"/>
              <a:cs typeface="Calibri"/>
              <a:sym typeface="Calibri"/>
            </a:endParaRPr>
          </a:p>
        </p:txBody>
      </p:sp>
      <p:sp>
        <p:nvSpPr>
          <p:cNvPr id="151" name="Google Shape;151;p5"/>
          <p:cNvSpPr/>
          <p:nvPr/>
        </p:nvSpPr>
        <p:spPr>
          <a:xfrm>
            <a:off x="3505200" y="4419600"/>
            <a:ext cx="1803400" cy="1384300"/>
          </a:xfrm>
          <a:prstGeom prst="roundRect">
            <a:avLst>
              <a:gd fmla="val 18348" name="adj"/>
            </a:avLst>
          </a:prstGeom>
          <a:solidFill>
            <a:srgbClr val="7EC1F7"/>
          </a:solidFill>
          <a:ln>
            <a:noFill/>
          </a:ln>
        </p:spPr>
        <p:txBody>
          <a:bodyPr anchorCtr="0" anchor="ctr" bIns="0" lIns="0" spcFirstLastPara="1" rIns="0" wrap="square" tIns="0">
            <a:noAutofit/>
          </a:bodyPr>
          <a:lstStyle/>
          <a:p>
            <a:pPr indent="127000" lvl="0" marL="0" marR="0" rtl="0" algn="ctr">
              <a:lnSpc>
                <a:spcPct val="100000"/>
              </a:lnSpc>
              <a:spcBef>
                <a:spcPts val="0"/>
              </a:spcBef>
              <a:spcAft>
                <a:spcPts val="0"/>
              </a:spcAft>
              <a:buNone/>
            </a:pPr>
            <a:r>
              <a:rPr b="0" i="0" lang="en-US" sz="1200" u="none" cap="none" strike="noStrike">
                <a:solidFill>
                  <a:srgbClr val="FFFFFF"/>
                </a:solidFill>
                <a:latin typeface="Arial"/>
                <a:ea typeface="Arial"/>
                <a:cs typeface="Arial"/>
                <a:sym typeface="Arial"/>
              </a:rPr>
              <a:t>The field experiences the "AI Winter" due to unmet expectations and funding cuts.</a:t>
            </a:r>
            <a:endParaRPr b="0" i="0" sz="1100" u="none" cap="none" strike="noStrike">
              <a:solidFill>
                <a:schemeClr val="dk1"/>
              </a:solidFill>
              <a:latin typeface="Calibri"/>
              <a:ea typeface="Calibri"/>
              <a:cs typeface="Calibri"/>
              <a:sym typeface="Calibri"/>
            </a:endParaRPr>
          </a:p>
        </p:txBody>
      </p:sp>
      <p:sp>
        <p:nvSpPr>
          <p:cNvPr id="152" name="Google Shape;152;p5"/>
          <p:cNvSpPr/>
          <p:nvPr/>
        </p:nvSpPr>
        <p:spPr>
          <a:xfrm>
            <a:off x="5067300" y="2400300"/>
            <a:ext cx="1803400" cy="1384300"/>
          </a:xfrm>
          <a:prstGeom prst="roundRect">
            <a:avLst>
              <a:gd fmla="val 18348" name="adj"/>
            </a:avLst>
          </a:prstGeom>
          <a:solidFill>
            <a:srgbClr val="548DDA"/>
          </a:solidFill>
          <a:ln>
            <a:noFill/>
          </a:ln>
        </p:spPr>
        <p:txBody>
          <a:bodyPr anchorCtr="0" anchor="ctr" bIns="0" lIns="0" spcFirstLastPara="1" rIns="0" wrap="square" tIns="0">
            <a:noAutofit/>
          </a:bodyPr>
          <a:lstStyle/>
          <a:p>
            <a:pPr indent="127000" lvl="0" marL="0" marR="0" rtl="0" algn="ctr">
              <a:lnSpc>
                <a:spcPct val="100000"/>
              </a:lnSpc>
              <a:spcBef>
                <a:spcPts val="0"/>
              </a:spcBef>
              <a:spcAft>
                <a:spcPts val="0"/>
              </a:spcAft>
              <a:buNone/>
            </a:pPr>
            <a:r>
              <a:rPr b="0" i="0" lang="en-US" sz="1200" u="none" cap="none" strike="noStrike">
                <a:solidFill>
                  <a:srgbClr val="FFFFFF"/>
                </a:solidFill>
                <a:latin typeface="Arial"/>
                <a:ea typeface="Arial"/>
                <a:cs typeface="Arial"/>
                <a:sym typeface="Arial"/>
              </a:rPr>
              <a:t>Expert systems gain traction, finding applications in medicine and finance.</a:t>
            </a:r>
            <a:endParaRPr b="0" i="0" sz="1100" u="none" cap="none" strike="noStrike">
              <a:solidFill>
                <a:schemeClr val="dk1"/>
              </a:solidFill>
              <a:latin typeface="Calibri"/>
              <a:ea typeface="Calibri"/>
              <a:cs typeface="Calibri"/>
              <a:sym typeface="Calibri"/>
            </a:endParaRPr>
          </a:p>
        </p:txBody>
      </p:sp>
      <p:sp>
        <p:nvSpPr>
          <p:cNvPr id="153" name="Google Shape;153;p5"/>
          <p:cNvSpPr/>
          <p:nvPr/>
        </p:nvSpPr>
        <p:spPr>
          <a:xfrm>
            <a:off x="6629400" y="4419600"/>
            <a:ext cx="1803400" cy="1587500"/>
          </a:xfrm>
          <a:prstGeom prst="roundRect">
            <a:avLst>
              <a:gd fmla="val 16000" name="adj"/>
            </a:avLst>
          </a:prstGeom>
          <a:solidFill>
            <a:srgbClr val="7EC1F7"/>
          </a:solidFill>
          <a:ln>
            <a:noFill/>
          </a:ln>
        </p:spPr>
        <p:txBody>
          <a:bodyPr anchorCtr="0" anchor="ctr" bIns="0" lIns="0" spcFirstLastPara="1" rIns="0" wrap="square" tIns="0">
            <a:noAutofit/>
          </a:bodyPr>
          <a:lstStyle/>
          <a:p>
            <a:pPr indent="127000" lvl="0" marL="0" marR="0" rtl="0" algn="ctr">
              <a:lnSpc>
                <a:spcPct val="100000"/>
              </a:lnSpc>
              <a:spcBef>
                <a:spcPts val="0"/>
              </a:spcBef>
              <a:spcAft>
                <a:spcPts val="0"/>
              </a:spcAft>
              <a:buNone/>
            </a:pPr>
            <a:r>
              <a:rPr b="0" i="0" lang="en-US" sz="1200" u="none" cap="none" strike="noStrike">
                <a:solidFill>
                  <a:srgbClr val="FFFFFF"/>
                </a:solidFill>
                <a:latin typeface="Arial"/>
                <a:ea typeface="Arial"/>
                <a:cs typeface="Arial"/>
                <a:sym typeface="Arial"/>
              </a:rPr>
              <a:t>Breakthroughs in deep learning lead to significant advancements in image and speech recognition.</a:t>
            </a:r>
            <a:endParaRPr b="0" i="0" sz="1100" u="none" cap="none" strike="noStrike">
              <a:solidFill>
                <a:schemeClr val="dk1"/>
              </a:solidFill>
              <a:latin typeface="Calibri"/>
              <a:ea typeface="Calibri"/>
              <a:cs typeface="Calibri"/>
              <a:sym typeface="Calibri"/>
            </a:endParaRPr>
          </a:p>
        </p:txBody>
      </p:sp>
      <p:sp>
        <p:nvSpPr>
          <p:cNvPr id="154" name="Google Shape;154;p5"/>
          <p:cNvSpPr/>
          <p:nvPr/>
        </p:nvSpPr>
        <p:spPr>
          <a:xfrm>
            <a:off x="8191500" y="2400300"/>
            <a:ext cx="1803400" cy="1384300"/>
          </a:xfrm>
          <a:prstGeom prst="roundRect">
            <a:avLst>
              <a:gd fmla="val 18348" name="adj"/>
            </a:avLst>
          </a:prstGeom>
          <a:solidFill>
            <a:srgbClr val="548DDA"/>
          </a:solidFill>
          <a:ln>
            <a:noFill/>
          </a:ln>
        </p:spPr>
        <p:txBody>
          <a:bodyPr anchorCtr="0" anchor="ctr" bIns="0" lIns="0" spcFirstLastPara="1" rIns="0" wrap="square" tIns="0">
            <a:noAutofit/>
          </a:bodyPr>
          <a:lstStyle/>
          <a:p>
            <a:pPr indent="127000" lvl="0" marL="0" marR="0" rtl="0" algn="ctr">
              <a:lnSpc>
                <a:spcPct val="100000"/>
              </a:lnSpc>
              <a:spcBef>
                <a:spcPts val="0"/>
              </a:spcBef>
              <a:spcAft>
                <a:spcPts val="0"/>
              </a:spcAft>
              <a:buNone/>
            </a:pPr>
            <a:r>
              <a:rPr b="0" i="0" lang="en-US" sz="1200" u="none" cap="none" strike="noStrike">
                <a:solidFill>
                  <a:srgbClr val="FFFFFF"/>
                </a:solidFill>
                <a:latin typeface="Arial"/>
                <a:ea typeface="Arial"/>
                <a:cs typeface="Arial"/>
                <a:sym typeface="Arial"/>
              </a:rPr>
              <a:t>AI technologies become integral in daily life, influencing various sectors and applications.</a:t>
            </a:r>
            <a:endParaRPr b="0" i="0" sz="1100" u="none" cap="none" strike="noStrike">
              <a:solidFill>
                <a:schemeClr val="dk1"/>
              </a:solidFill>
              <a:latin typeface="Calibri"/>
              <a:ea typeface="Calibri"/>
              <a:cs typeface="Calibri"/>
              <a:sym typeface="Calibri"/>
            </a:endParaRPr>
          </a:p>
        </p:txBody>
      </p:sp>
      <p:sp>
        <p:nvSpPr>
          <p:cNvPr id="155" name="Google Shape;155;p5"/>
          <p:cNvSpPr/>
          <p:nvPr/>
        </p:nvSpPr>
        <p:spPr>
          <a:xfrm>
            <a:off x="1041400" y="3949700"/>
            <a:ext cx="381000" cy="381000"/>
          </a:xfrm>
          <a:prstGeom prst="roundRect">
            <a:avLst>
              <a:gd fmla="val 50000" name="adj"/>
            </a:avLst>
          </a:prstGeom>
          <a:solidFill>
            <a:srgbClr val="7EC1F7"/>
          </a:solidFill>
          <a:ln>
            <a:noFill/>
          </a:ln>
        </p:spPr>
        <p:txBody>
          <a:bodyPr anchorCtr="0" anchor="ctr" bIns="0" lIns="0" spcFirstLastPara="1" rIns="0" wrap="square" tIns="0">
            <a:noAutofit/>
          </a:bodyPr>
          <a:lstStyle/>
          <a:p>
            <a:pPr indent="76200" lvl="0" marL="0" marR="0" rtl="0" algn="l">
              <a:lnSpc>
                <a:spcPct val="100000"/>
              </a:lnSpc>
              <a:spcBef>
                <a:spcPts val="0"/>
              </a:spcBef>
              <a:spcAft>
                <a:spcPts val="0"/>
              </a:spcAft>
              <a:buNone/>
            </a:pPr>
            <a:r>
              <a:rPr b="1" i="0" lang="en-US" sz="1400" u="none" cap="none" strike="noStrike">
                <a:solidFill>
                  <a:srgbClr val="FFFFFF"/>
                </a:solidFill>
                <a:latin typeface="Poppins"/>
                <a:ea typeface="Poppins"/>
                <a:cs typeface="Poppins"/>
                <a:sym typeface="Poppins"/>
              </a:rPr>
              <a:t>1</a:t>
            </a:r>
            <a:endParaRPr b="0" i="0" sz="1100" u="none" cap="none" strike="noStrike">
              <a:solidFill>
                <a:schemeClr val="dk1"/>
              </a:solidFill>
              <a:latin typeface="Calibri"/>
              <a:ea typeface="Calibri"/>
              <a:cs typeface="Calibri"/>
              <a:sym typeface="Calibri"/>
            </a:endParaRPr>
          </a:p>
        </p:txBody>
      </p:sp>
      <p:sp>
        <p:nvSpPr>
          <p:cNvPr id="156" name="Google Shape;156;p5"/>
          <p:cNvSpPr/>
          <p:nvPr/>
        </p:nvSpPr>
        <p:spPr>
          <a:xfrm>
            <a:off x="2603500" y="3949700"/>
            <a:ext cx="381000" cy="381000"/>
          </a:xfrm>
          <a:prstGeom prst="roundRect">
            <a:avLst>
              <a:gd fmla="val 50000" name="adj"/>
            </a:avLst>
          </a:prstGeom>
          <a:solidFill>
            <a:srgbClr val="7EC1F7"/>
          </a:solidFill>
          <a:ln>
            <a:noFill/>
          </a:ln>
        </p:spPr>
        <p:txBody>
          <a:bodyPr anchorCtr="0" anchor="ctr" bIns="0" lIns="0" spcFirstLastPara="1" rIns="0" wrap="square" tIns="0">
            <a:noAutofit/>
          </a:bodyPr>
          <a:lstStyle/>
          <a:p>
            <a:pPr indent="76200" lvl="0" marL="0" marR="0" rtl="0" algn="l">
              <a:lnSpc>
                <a:spcPct val="100000"/>
              </a:lnSpc>
              <a:spcBef>
                <a:spcPts val="0"/>
              </a:spcBef>
              <a:spcAft>
                <a:spcPts val="0"/>
              </a:spcAft>
              <a:buNone/>
            </a:pPr>
            <a:r>
              <a:rPr b="1" i="0" lang="en-US" sz="1400" u="none" cap="none" strike="noStrike">
                <a:solidFill>
                  <a:srgbClr val="FFFFFF"/>
                </a:solidFill>
                <a:latin typeface="Poppins"/>
                <a:ea typeface="Poppins"/>
                <a:cs typeface="Poppins"/>
                <a:sym typeface="Poppins"/>
              </a:rPr>
              <a:t>2</a:t>
            </a:r>
            <a:endParaRPr b="0" i="0" sz="1100" u="none" cap="none" strike="noStrike">
              <a:solidFill>
                <a:schemeClr val="dk1"/>
              </a:solidFill>
              <a:latin typeface="Calibri"/>
              <a:ea typeface="Calibri"/>
              <a:cs typeface="Calibri"/>
              <a:sym typeface="Calibri"/>
            </a:endParaRPr>
          </a:p>
        </p:txBody>
      </p:sp>
      <p:sp>
        <p:nvSpPr>
          <p:cNvPr id="157" name="Google Shape;157;p5"/>
          <p:cNvSpPr/>
          <p:nvPr/>
        </p:nvSpPr>
        <p:spPr>
          <a:xfrm>
            <a:off x="4165600" y="3949700"/>
            <a:ext cx="381000" cy="381000"/>
          </a:xfrm>
          <a:prstGeom prst="roundRect">
            <a:avLst>
              <a:gd fmla="val 50000" name="adj"/>
            </a:avLst>
          </a:prstGeom>
          <a:solidFill>
            <a:srgbClr val="7EC1F7"/>
          </a:solidFill>
          <a:ln>
            <a:noFill/>
          </a:ln>
        </p:spPr>
        <p:txBody>
          <a:bodyPr anchorCtr="0" anchor="ctr" bIns="0" lIns="0" spcFirstLastPara="1" rIns="0" wrap="square" tIns="0">
            <a:noAutofit/>
          </a:bodyPr>
          <a:lstStyle/>
          <a:p>
            <a:pPr indent="76200" lvl="0" marL="0" marR="0" rtl="0" algn="l">
              <a:lnSpc>
                <a:spcPct val="100000"/>
              </a:lnSpc>
              <a:spcBef>
                <a:spcPts val="0"/>
              </a:spcBef>
              <a:spcAft>
                <a:spcPts val="0"/>
              </a:spcAft>
              <a:buNone/>
            </a:pPr>
            <a:r>
              <a:rPr b="1" i="0" lang="en-US" sz="1400" u="none" cap="none" strike="noStrike">
                <a:solidFill>
                  <a:srgbClr val="FFFFFF"/>
                </a:solidFill>
                <a:latin typeface="Poppins"/>
                <a:ea typeface="Poppins"/>
                <a:cs typeface="Poppins"/>
                <a:sym typeface="Poppins"/>
              </a:rPr>
              <a:t>3</a:t>
            </a:r>
            <a:endParaRPr b="0" i="0" sz="1100" u="none" cap="none" strike="noStrike">
              <a:solidFill>
                <a:schemeClr val="dk1"/>
              </a:solidFill>
              <a:latin typeface="Calibri"/>
              <a:ea typeface="Calibri"/>
              <a:cs typeface="Calibri"/>
              <a:sym typeface="Calibri"/>
            </a:endParaRPr>
          </a:p>
        </p:txBody>
      </p:sp>
      <p:sp>
        <p:nvSpPr>
          <p:cNvPr id="158" name="Google Shape;158;p5"/>
          <p:cNvSpPr/>
          <p:nvPr/>
        </p:nvSpPr>
        <p:spPr>
          <a:xfrm>
            <a:off x="5727700" y="3949700"/>
            <a:ext cx="381000" cy="381000"/>
          </a:xfrm>
          <a:prstGeom prst="roundRect">
            <a:avLst>
              <a:gd fmla="val 50000" name="adj"/>
            </a:avLst>
          </a:prstGeom>
          <a:solidFill>
            <a:srgbClr val="7EC1F7"/>
          </a:solidFill>
          <a:ln>
            <a:noFill/>
          </a:ln>
        </p:spPr>
        <p:txBody>
          <a:bodyPr anchorCtr="0" anchor="ctr" bIns="0" lIns="0" spcFirstLastPara="1" rIns="0" wrap="square" tIns="0">
            <a:noAutofit/>
          </a:bodyPr>
          <a:lstStyle/>
          <a:p>
            <a:pPr indent="76200" lvl="0" marL="0" marR="0" rtl="0" algn="l">
              <a:lnSpc>
                <a:spcPct val="100000"/>
              </a:lnSpc>
              <a:spcBef>
                <a:spcPts val="0"/>
              </a:spcBef>
              <a:spcAft>
                <a:spcPts val="0"/>
              </a:spcAft>
              <a:buNone/>
            </a:pPr>
            <a:r>
              <a:rPr b="1" i="0" lang="en-US" sz="1400" u="none" cap="none" strike="noStrike">
                <a:solidFill>
                  <a:srgbClr val="FFFFFF"/>
                </a:solidFill>
                <a:latin typeface="Poppins"/>
                <a:ea typeface="Poppins"/>
                <a:cs typeface="Poppins"/>
                <a:sym typeface="Poppins"/>
              </a:rPr>
              <a:t>4</a:t>
            </a:r>
            <a:endParaRPr b="0" i="0" sz="1100" u="none" cap="none" strike="noStrike">
              <a:solidFill>
                <a:schemeClr val="dk1"/>
              </a:solidFill>
              <a:latin typeface="Calibri"/>
              <a:ea typeface="Calibri"/>
              <a:cs typeface="Calibri"/>
              <a:sym typeface="Calibri"/>
            </a:endParaRPr>
          </a:p>
        </p:txBody>
      </p:sp>
      <p:sp>
        <p:nvSpPr>
          <p:cNvPr id="159" name="Google Shape;159;p5"/>
          <p:cNvSpPr/>
          <p:nvPr/>
        </p:nvSpPr>
        <p:spPr>
          <a:xfrm>
            <a:off x="7289800" y="3949700"/>
            <a:ext cx="381000" cy="381000"/>
          </a:xfrm>
          <a:prstGeom prst="roundRect">
            <a:avLst>
              <a:gd fmla="val 50000" name="adj"/>
            </a:avLst>
          </a:prstGeom>
          <a:solidFill>
            <a:srgbClr val="7EC1F7"/>
          </a:solidFill>
          <a:ln>
            <a:noFill/>
          </a:ln>
        </p:spPr>
        <p:txBody>
          <a:bodyPr anchorCtr="0" anchor="ctr" bIns="0" lIns="0" spcFirstLastPara="1" rIns="0" wrap="square" tIns="0">
            <a:noAutofit/>
          </a:bodyPr>
          <a:lstStyle/>
          <a:p>
            <a:pPr indent="76200" lvl="0" marL="0" marR="0" rtl="0" algn="l">
              <a:lnSpc>
                <a:spcPct val="100000"/>
              </a:lnSpc>
              <a:spcBef>
                <a:spcPts val="0"/>
              </a:spcBef>
              <a:spcAft>
                <a:spcPts val="0"/>
              </a:spcAft>
              <a:buNone/>
            </a:pPr>
            <a:r>
              <a:rPr b="1" i="0" lang="en-US" sz="1400" u="none" cap="none" strike="noStrike">
                <a:solidFill>
                  <a:srgbClr val="FFFFFF"/>
                </a:solidFill>
                <a:latin typeface="Poppins"/>
                <a:ea typeface="Poppins"/>
                <a:cs typeface="Poppins"/>
                <a:sym typeface="Poppins"/>
              </a:rPr>
              <a:t>5</a:t>
            </a:r>
            <a:endParaRPr b="0" i="0" sz="1100" u="none" cap="none" strike="noStrike">
              <a:solidFill>
                <a:schemeClr val="dk1"/>
              </a:solidFill>
              <a:latin typeface="Calibri"/>
              <a:ea typeface="Calibri"/>
              <a:cs typeface="Calibri"/>
              <a:sym typeface="Calibri"/>
            </a:endParaRPr>
          </a:p>
        </p:txBody>
      </p:sp>
      <p:sp>
        <p:nvSpPr>
          <p:cNvPr id="160" name="Google Shape;160;p5"/>
          <p:cNvSpPr/>
          <p:nvPr/>
        </p:nvSpPr>
        <p:spPr>
          <a:xfrm>
            <a:off x="8851900" y="3949700"/>
            <a:ext cx="381000" cy="381000"/>
          </a:xfrm>
          <a:prstGeom prst="roundRect">
            <a:avLst>
              <a:gd fmla="val 50000" name="adj"/>
            </a:avLst>
          </a:prstGeom>
          <a:solidFill>
            <a:srgbClr val="7EC1F7"/>
          </a:solidFill>
          <a:ln>
            <a:noFill/>
          </a:ln>
        </p:spPr>
        <p:txBody>
          <a:bodyPr anchorCtr="0" anchor="ctr" bIns="0" lIns="0" spcFirstLastPara="1" rIns="0" wrap="square" tIns="0">
            <a:noAutofit/>
          </a:bodyPr>
          <a:lstStyle/>
          <a:p>
            <a:pPr indent="76200" lvl="0" marL="0" marR="0" rtl="0" algn="l">
              <a:lnSpc>
                <a:spcPct val="100000"/>
              </a:lnSpc>
              <a:spcBef>
                <a:spcPts val="0"/>
              </a:spcBef>
              <a:spcAft>
                <a:spcPts val="0"/>
              </a:spcAft>
              <a:buNone/>
            </a:pPr>
            <a:r>
              <a:rPr b="1" i="0" lang="en-US" sz="1400" u="none" cap="none" strike="noStrike">
                <a:solidFill>
                  <a:srgbClr val="FFFFFF"/>
                </a:solidFill>
                <a:latin typeface="Poppins"/>
                <a:ea typeface="Poppins"/>
                <a:cs typeface="Poppins"/>
                <a:sym typeface="Poppins"/>
              </a:rPr>
              <a:t>6</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pic>
        <p:nvPicPr>
          <p:cNvPr id="165" name="Google Shape;165;p6"/>
          <p:cNvPicPr preferRelativeResize="0"/>
          <p:nvPr/>
        </p:nvPicPr>
        <p:blipFill rotWithShape="1">
          <a:blip r:embed="rId3">
            <a:alphaModFix/>
          </a:blip>
          <a:srcRect b="0" l="1000" r="999" t="0"/>
          <a:stretch/>
        </p:blipFill>
        <p:spPr>
          <a:xfrm>
            <a:off x="0" y="0"/>
            <a:ext cx="10388600" cy="5854700"/>
          </a:xfrm>
          <a:prstGeom prst="rect">
            <a:avLst/>
          </a:prstGeom>
          <a:noFill/>
          <a:ln>
            <a:noFill/>
          </a:ln>
        </p:spPr>
      </p:pic>
      <p:sp>
        <p:nvSpPr>
          <p:cNvPr id="166" name="Google Shape;166;p6"/>
          <p:cNvSpPr/>
          <p:nvPr/>
        </p:nvSpPr>
        <p:spPr>
          <a:xfrm>
            <a:off x="0" y="0"/>
            <a:ext cx="10388600" cy="5854700"/>
          </a:xfrm>
          <a:prstGeom prst="rect">
            <a:avLst/>
          </a:prstGeom>
          <a:solidFill>
            <a:srgbClr val="000000">
              <a:alpha val="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6"/>
          <p:cNvSpPr/>
          <p:nvPr/>
        </p:nvSpPr>
        <p:spPr>
          <a:xfrm>
            <a:off x="508000" y="1689100"/>
            <a:ext cx="2806700" cy="3644900"/>
          </a:xfrm>
          <a:prstGeom prst="rect">
            <a:avLst/>
          </a:prstGeom>
          <a:solidFill>
            <a:srgbClr val="000000">
              <a:alpha val="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6"/>
          <p:cNvSpPr/>
          <p:nvPr/>
        </p:nvSpPr>
        <p:spPr>
          <a:xfrm>
            <a:off x="3784600" y="1689100"/>
            <a:ext cx="2806700" cy="3378200"/>
          </a:xfrm>
          <a:prstGeom prst="rect">
            <a:avLst/>
          </a:prstGeom>
          <a:solidFill>
            <a:srgbClr val="000000">
              <a:alpha val="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p6"/>
          <p:cNvSpPr/>
          <p:nvPr/>
        </p:nvSpPr>
        <p:spPr>
          <a:xfrm>
            <a:off x="7061200" y="1689100"/>
            <a:ext cx="2806700" cy="3378200"/>
          </a:xfrm>
          <a:prstGeom prst="rect">
            <a:avLst/>
          </a:prstGeom>
          <a:solidFill>
            <a:srgbClr val="000000">
              <a:alpha val="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p6"/>
          <p:cNvSpPr/>
          <p:nvPr/>
        </p:nvSpPr>
        <p:spPr>
          <a:xfrm>
            <a:off x="508000" y="0"/>
            <a:ext cx="0" cy="0"/>
          </a:xfrm>
          <a:prstGeom prst="rect">
            <a:avLst/>
          </a:prstGeom>
          <a:solidFill>
            <a:srgbClr val="000000">
              <a:alpha val="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6"/>
          <p:cNvSpPr/>
          <p:nvPr/>
        </p:nvSpPr>
        <p:spPr>
          <a:xfrm>
            <a:off x="3784600" y="0"/>
            <a:ext cx="0" cy="0"/>
          </a:xfrm>
          <a:prstGeom prst="rect">
            <a:avLst/>
          </a:prstGeom>
          <a:solidFill>
            <a:srgbClr val="000000">
              <a:alpha val="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6"/>
          <p:cNvSpPr/>
          <p:nvPr/>
        </p:nvSpPr>
        <p:spPr>
          <a:xfrm>
            <a:off x="7061200" y="0"/>
            <a:ext cx="0" cy="0"/>
          </a:xfrm>
          <a:prstGeom prst="rect">
            <a:avLst/>
          </a:prstGeom>
          <a:solidFill>
            <a:srgbClr val="000000">
              <a:alpha val="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6"/>
          <p:cNvSpPr/>
          <p:nvPr/>
        </p:nvSpPr>
        <p:spPr>
          <a:xfrm>
            <a:off x="1524000" y="1689100"/>
            <a:ext cx="762000" cy="762000"/>
          </a:xfrm>
          <a:prstGeom prst="roundRect">
            <a:avLst>
              <a:gd fmla="val 50000" name="adj"/>
            </a:avLst>
          </a:prstGeom>
          <a:solidFill>
            <a:srgbClr val="548DDA"/>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en-US" sz="3200" u="none" cap="none" strike="noStrike">
                <a:solidFill>
                  <a:srgbClr val="FFFFFF"/>
                </a:solidFill>
                <a:latin typeface="Arial"/>
                <a:ea typeface="Arial"/>
                <a:cs typeface="Arial"/>
                <a:sym typeface="Arial"/>
              </a:rPr>
              <a:t>01</a:t>
            </a:r>
            <a:endParaRPr b="0" i="0" sz="1100" u="none" cap="none" strike="noStrike">
              <a:solidFill>
                <a:schemeClr val="dk1"/>
              </a:solidFill>
              <a:latin typeface="Calibri"/>
              <a:ea typeface="Calibri"/>
              <a:cs typeface="Calibri"/>
              <a:sym typeface="Calibri"/>
            </a:endParaRPr>
          </a:p>
        </p:txBody>
      </p:sp>
      <p:sp>
        <p:nvSpPr>
          <p:cNvPr id="174" name="Google Shape;174;p6"/>
          <p:cNvSpPr/>
          <p:nvPr/>
        </p:nvSpPr>
        <p:spPr>
          <a:xfrm>
            <a:off x="4800600" y="1689100"/>
            <a:ext cx="762000" cy="762000"/>
          </a:xfrm>
          <a:prstGeom prst="roundRect">
            <a:avLst>
              <a:gd fmla="val 50000" name="adj"/>
            </a:avLst>
          </a:prstGeom>
          <a:solidFill>
            <a:srgbClr val="548DDA"/>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en-US" sz="3200" u="none" cap="none" strike="noStrike">
                <a:solidFill>
                  <a:srgbClr val="FFFFFF"/>
                </a:solidFill>
                <a:latin typeface="Arial"/>
                <a:ea typeface="Arial"/>
                <a:cs typeface="Arial"/>
                <a:sym typeface="Arial"/>
              </a:rPr>
              <a:t>02</a:t>
            </a:r>
            <a:endParaRPr b="0" i="0" sz="1100" u="none" cap="none" strike="noStrike">
              <a:solidFill>
                <a:schemeClr val="dk1"/>
              </a:solidFill>
              <a:latin typeface="Calibri"/>
              <a:ea typeface="Calibri"/>
              <a:cs typeface="Calibri"/>
              <a:sym typeface="Calibri"/>
            </a:endParaRPr>
          </a:p>
        </p:txBody>
      </p:sp>
      <p:sp>
        <p:nvSpPr>
          <p:cNvPr id="175" name="Google Shape;175;p6"/>
          <p:cNvSpPr/>
          <p:nvPr/>
        </p:nvSpPr>
        <p:spPr>
          <a:xfrm>
            <a:off x="8089900" y="1689100"/>
            <a:ext cx="762000" cy="762000"/>
          </a:xfrm>
          <a:prstGeom prst="roundRect">
            <a:avLst>
              <a:gd fmla="val 50000" name="adj"/>
            </a:avLst>
          </a:prstGeom>
          <a:solidFill>
            <a:srgbClr val="548DDA"/>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en-US" sz="3200" u="none" cap="none" strike="noStrike">
                <a:solidFill>
                  <a:srgbClr val="FFFFFF"/>
                </a:solidFill>
                <a:latin typeface="Arial"/>
                <a:ea typeface="Arial"/>
                <a:cs typeface="Arial"/>
                <a:sym typeface="Arial"/>
              </a:rPr>
              <a:t>03</a:t>
            </a:r>
            <a:endParaRPr b="0" i="0" sz="1100" u="none" cap="none" strike="noStrike">
              <a:solidFill>
                <a:schemeClr val="dk1"/>
              </a:solidFill>
              <a:latin typeface="Calibri"/>
              <a:ea typeface="Calibri"/>
              <a:cs typeface="Calibri"/>
              <a:sym typeface="Calibri"/>
            </a:endParaRPr>
          </a:p>
        </p:txBody>
      </p:sp>
      <p:sp>
        <p:nvSpPr>
          <p:cNvPr id="176" name="Google Shape;176;p6"/>
          <p:cNvSpPr txBox="1"/>
          <p:nvPr/>
        </p:nvSpPr>
        <p:spPr>
          <a:xfrm>
            <a:off x="508000" y="762000"/>
            <a:ext cx="9372600" cy="419100"/>
          </a:xfrm>
          <a:prstGeom prst="rect">
            <a:avLst/>
          </a:prstGeom>
          <a:solidFill>
            <a:srgbClr val="000000">
              <a:alpha val="0"/>
            </a:srgbClr>
          </a:solidFill>
          <a:ln>
            <a:noFill/>
          </a:ln>
        </p:spPr>
        <p:txBody>
          <a:bodyPr anchorCtr="0" anchor="ctr" bIns="0" lIns="0" spcFirstLastPara="1" rIns="0" wrap="square" tIns="0">
            <a:noAutofit/>
          </a:bodyPr>
          <a:lstStyle/>
          <a:p>
            <a:pPr indent="1016000" lvl="0" marL="0" marR="0" rtl="0" algn="ctr">
              <a:lnSpc>
                <a:spcPct val="100000"/>
              </a:lnSpc>
              <a:spcBef>
                <a:spcPts val="0"/>
              </a:spcBef>
              <a:spcAft>
                <a:spcPts val="0"/>
              </a:spcAft>
              <a:buNone/>
            </a:pPr>
            <a:r>
              <a:rPr b="1" i="0" lang="en-US" sz="2800" u="none" cap="none" strike="noStrike">
                <a:solidFill>
                  <a:srgbClr val="226FD4"/>
                </a:solidFill>
                <a:latin typeface="Arial"/>
                <a:ea typeface="Arial"/>
                <a:cs typeface="Arial"/>
                <a:sym typeface="Arial"/>
              </a:rPr>
              <a:t>Areas Of Artificial Intelligence</a:t>
            </a:r>
            <a:endParaRPr b="0" i="0" sz="1100" u="none" cap="none" strike="noStrike">
              <a:solidFill>
                <a:schemeClr val="dk1"/>
              </a:solidFill>
              <a:latin typeface="Calibri"/>
              <a:ea typeface="Calibri"/>
              <a:cs typeface="Calibri"/>
              <a:sym typeface="Calibri"/>
            </a:endParaRPr>
          </a:p>
        </p:txBody>
      </p:sp>
      <p:sp>
        <p:nvSpPr>
          <p:cNvPr id="177" name="Google Shape;177;p6"/>
          <p:cNvSpPr txBox="1"/>
          <p:nvPr/>
        </p:nvSpPr>
        <p:spPr>
          <a:xfrm>
            <a:off x="622300" y="2705100"/>
            <a:ext cx="2552700" cy="635000"/>
          </a:xfrm>
          <a:prstGeom prst="rect">
            <a:avLst/>
          </a:prstGeom>
          <a:solidFill>
            <a:srgbClr val="000000">
              <a:alpha val="0"/>
            </a:srgbClr>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2000" u="none" cap="none" strike="noStrike">
                <a:solidFill>
                  <a:srgbClr val="226FD4"/>
                </a:solidFill>
                <a:latin typeface="Arial"/>
                <a:ea typeface="Arial"/>
                <a:cs typeface="Arial"/>
                <a:sym typeface="Arial"/>
              </a:rPr>
              <a:t>Diverse Subfields of AI</a:t>
            </a:r>
            <a:endParaRPr b="0" i="0" sz="1100" u="none" cap="none" strike="noStrike">
              <a:solidFill>
                <a:schemeClr val="dk1"/>
              </a:solidFill>
              <a:latin typeface="Calibri"/>
              <a:ea typeface="Calibri"/>
              <a:cs typeface="Calibri"/>
              <a:sym typeface="Calibri"/>
            </a:endParaRPr>
          </a:p>
        </p:txBody>
      </p:sp>
      <p:sp>
        <p:nvSpPr>
          <p:cNvPr id="178" name="Google Shape;178;p6"/>
          <p:cNvSpPr txBox="1"/>
          <p:nvPr/>
        </p:nvSpPr>
        <p:spPr>
          <a:xfrm>
            <a:off x="3860800" y="2705100"/>
            <a:ext cx="2654300" cy="635000"/>
          </a:xfrm>
          <a:prstGeom prst="rect">
            <a:avLst/>
          </a:prstGeom>
          <a:solidFill>
            <a:srgbClr val="000000">
              <a:alpha val="0"/>
            </a:srgbClr>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2000" u="none" cap="none" strike="noStrike">
                <a:solidFill>
                  <a:srgbClr val="226FD4"/>
                </a:solidFill>
                <a:latin typeface="Arial"/>
                <a:ea typeface="Arial"/>
                <a:cs typeface="Arial"/>
                <a:sym typeface="Arial"/>
              </a:rPr>
              <a:t>Interdisciplinary Nature</a:t>
            </a:r>
            <a:endParaRPr b="0" i="0" sz="1100" u="none" cap="none" strike="noStrike">
              <a:solidFill>
                <a:schemeClr val="dk1"/>
              </a:solidFill>
              <a:latin typeface="Calibri"/>
              <a:ea typeface="Calibri"/>
              <a:cs typeface="Calibri"/>
              <a:sym typeface="Calibri"/>
            </a:endParaRPr>
          </a:p>
        </p:txBody>
      </p:sp>
      <p:sp>
        <p:nvSpPr>
          <p:cNvPr id="179" name="Google Shape;179;p6"/>
          <p:cNvSpPr txBox="1"/>
          <p:nvPr/>
        </p:nvSpPr>
        <p:spPr>
          <a:xfrm>
            <a:off x="7124700" y="2705100"/>
            <a:ext cx="2679700" cy="635000"/>
          </a:xfrm>
          <a:prstGeom prst="rect">
            <a:avLst/>
          </a:prstGeom>
          <a:solidFill>
            <a:srgbClr val="000000">
              <a:alpha val="0"/>
            </a:srgbClr>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2000" u="none" cap="none" strike="noStrike">
                <a:solidFill>
                  <a:srgbClr val="226FD4"/>
                </a:solidFill>
                <a:latin typeface="Arial"/>
                <a:ea typeface="Arial"/>
                <a:cs typeface="Arial"/>
                <a:sym typeface="Arial"/>
              </a:rPr>
              <a:t>Real-World Applications</a:t>
            </a:r>
            <a:endParaRPr b="0" i="0" sz="1100" u="none" cap="none" strike="noStrike">
              <a:solidFill>
                <a:schemeClr val="dk1"/>
              </a:solidFill>
              <a:latin typeface="Calibri"/>
              <a:ea typeface="Calibri"/>
              <a:cs typeface="Calibri"/>
              <a:sym typeface="Calibri"/>
            </a:endParaRPr>
          </a:p>
        </p:txBody>
      </p:sp>
      <p:sp>
        <p:nvSpPr>
          <p:cNvPr id="180" name="Google Shape;180;p6"/>
          <p:cNvSpPr txBox="1"/>
          <p:nvPr/>
        </p:nvSpPr>
        <p:spPr>
          <a:xfrm>
            <a:off x="508000" y="3467100"/>
            <a:ext cx="2806700" cy="1866900"/>
          </a:xfrm>
          <a:prstGeom prst="rect">
            <a:avLst/>
          </a:prstGeom>
          <a:solidFill>
            <a:srgbClr val="000000">
              <a:alpha val="0"/>
            </a:srgbClr>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US" sz="1400" u="none" cap="none" strike="noStrike">
                <a:solidFill>
                  <a:srgbClr val="69749F"/>
                </a:solidFill>
                <a:latin typeface="Arial"/>
                <a:ea typeface="Arial"/>
                <a:cs typeface="Arial"/>
                <a:sym typeface="Arial"/>
              </a:rPr>
              <a:t>Artificial Intelligence encompasses various subfields, including machine learning, natural language processing, computer vision, and robotics, each contributing unique methodologies and applications to enhance intelligent systems.</a:t>
            </a:r>
            <a:endParaRPr b="0" i="0" sz="1100" u="none" cap="none" strike="noStrike">
              <a:solidFill>
                <a:schemeClr val="dk1"/>
              </a:solidFill>
              <a:latin typeface="Calibri"/>
              <a:ea typeface="Calibri"/>
              <a:cs typeface="Calibri"/>
              <a:sym typeface="Calibri"/>
            </a:endParaRPr>
          </a:p>
        </p:txBody>
      </p:sp>
      <p:sp>
        <p:nvSpPr>
          <p:cNvPr id="181" name="Google Shape;181;p6"/>
          <p:cNvSpPr txBox="1"/>
          <p:nvPr/>
        </p:nvSpPr>
        <p:spPr>
          <a:xfrm>
            <a:off x="3784600" y="3467100"/>
            <a:ext cx="2806700" cy="1600200"/>
          </a:xfrm>
          <a:prstGeom prst="rect">
            <a:avLst/>
          </a:prstGeom>
          <a:solidFill>
            <a:srgbClr val="000000">
              <a:alpha val="0"/>
            </a:srgbClr>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US" sz="1400" u="none" cap="none" strike="noStrike">
                <a:solidFill>
                  <a:srgbClr val="69749F"/>
                </a:solidFill>
                <a:latin typeface="Arial"/>
                <a:ea typeface="Arial"/>
                <a:cs typeface="Arial"/>
                <a:sym typeface="Arial"/>
              </a:rPr>
              <a:t>AI integrates principles from computer science, mathematics, psychology, and neuroscience, fostering collaboration across disciplines to advance the development of intelligent technologies.</a:t>
            </a:r>
            <a:endParaRPr b="0" i="0" sz="1100" u="none" cap="none" strike="noStrike">
              <a:solidFill>
                <a:schemeClr val="dk1"/>
              </a:solidFill>
              <a:latin typeface="Calibri"/>
              <a:ea typeface="Calibri"/>
              <a:cs typeface="Calibri"/>
              <a:sym typeface="Calibri"/>
            </a:endParaRPr>
          </a:p>
        </p:txBody>
      </p:sp>
      <p:sp>
        <p:nvSpPr>
          <p:cNvPr id="182" name="Google Shape;182;p6"/>
          <p:cNvSpPr txBox="1"/>
          <p:nvPr/>
        </p:nvSpPr>
        <p:spPr>
          <a:xfrm>
            <a:off x="7061200" y="3467100"/>
            <a:ext cx="2806700" cy="1600200"/>
          </a:xfrm>
          <a:prstGeom prst="rect">
            <a:avLst/>
          </a:prstGeom>
          <a:solidFill>
            <a:srgbClr val="000000">
              <a:alpha val="0"/>
            </a:srgbClr>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US" sz="1400" u="none" cap="none" strike="noStrike">
                <a:solidFill>
                  <a:srgbClr val="69749F"/>
                </a:solidFill>
                <a:latin typeface="Arial"/>
                <a:ea typeface="Arial"/>
                <a:cs typeface="Arial"/>
                <a:sym typeface="Arial"/>
              </a:rPr>
              <a:t>AI technologies are increasingly applied in diverse sectors such as healthcare, finance, transportation, and entertainment, driving innovation and improving efficiency in processes and decision-making.</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pic>
        <p:nvPicPr>
          <p:cNvPr id="187" name="Google Shape;187;p7"/>
          <p:cNvPicPr preferRelativeResize="0"/>
          <p:nvPr/>
        </p:nvPicPr>
        <p:blipFill rotWithShape="1">
          <a:blip r:embed="rId3">
            <a:alphaModFix/>
          </a:blip>
          <a:srcRect b="0" l="1000" r="999" t="0"/>
          <a:stretch/>
        </p:blipFill>
        <p:spPr>
          <a:xfrm>
            <a:off x="0" y="0"/>
            <a:ext cx="10388600" cy="5918200"/>
          </a:xfrm>
          <a:prstGeom prst="rect">
            <a:avLst/>
          </a:prstGeom>
          <a:noFill/>
          <a:ln>
            <a:noFill/>
          </a:ln>
        </p:spPr>
      </p:pic>
      <p:sp>
        <p:nvSpPr>
          <p:cNvPr id="188" name="Google Shape;188;p7"/>
          <p:cNvSpPr/>
          <p:nvPr/>
        </p:nvSpPr>
        <p:spPr>
          <a:xfrm>
            <a:off x="0" y="0"/>
            <a:ext cx="10388600" cy="5918200"/>
          </a:xfrm>
          <a:prstGeom prst="rect">
            <a:avLst/>
          </a:prstGeom>
          <a:solidFill>
            <a:srgbClr val="000000">
              <a:alpha val="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p7"/>
          <p:cNvSpPr/>
          <p:nvPr/>
        </p:nvSpPr>
        <p:spPr>
          <a:xfrm>
            <a:off x="1016000" y="1549400"/>
            <a:ext cx="4089400" cy="1943100"/>
          </a:xfrm>
          <a:prstGeom prst="rect">
            <a:avLst/>
          </a:prstGeom>
          <a:solidFill>
            <a:srgbClr val="000000">
              <a:alpha val="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7"/>
          <p:cNvSpPr/>
          <p:nvPr/>
        </p:nvSpPr>
        <p:spPr>
          <a:xfrm>
            <a:off x="5308600" y="1549400"/>
            <a:ext cx="4089400" cy="1943100"/>
          </a:xfrm>
          <a:prstGeom prst="rect">
            <a:avLst/>
          </a:prstGeom>
          <a:solidFill>
            <a:srgbClr val="000000">
              <a:alpha val="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7"/>
          <p:cNvSpPr/>
          <p:nvPr/>
        </p:nvSpPr>
        <p:spPr>
          <a:xfrm>
            <a:off x="1016000" y="3695700"/>
            <a:ext cx="4089400" cy="2222500"/>
          </a:xfrm>
          <a:prstGeom prst="rect">
            <a:avLst/>
          </a:prstGeom>
          <a:solidFill>
            <a:srgbClr val="000000">
              <a:alpha val="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7"/>
          <p:cNvSpPr/>
          <p:nvPr/>
        </p:nvSpPr>
        <p:spPr>
          <a:xfrm>
            <a:off x="5308600" y="3695700"/>
            <a:ext cx="4089400" cy="2222500"/>
          </a:xfrm>
          <a:prstGeom prst="rect">
            <a:avLst/>
          </a:prstGeom>
          <a:solidFill>
            <a:srgbClr val="000000">
              <a:alpha val="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93" name="Google Shape;193;p7"/>
          <p:cNvPicPr preferRelativeResize="0"/>
          <p:nvPr/>
        </p:nvPicPr>
        <p:blipFill rotWithShape="1">
          <a:blip r:embed="rId4">
            <a:alphaModFix/>
          </a:blip>
          <a:srcRect b="0" l="0" r="0" t="0"/>
          <a:stretch/>
        </p:blipFill>
        <p:spPr>
          <a:xfrm>
            <a:off x="3911600" y="2298700"/>
            <a:ext cx="1193800" cy="1193800"/>
          </a:xfrm>
          <a:prstGeom prst="rect">
            <a:avLst/>
          </a:prstGeom>
          <a:noFill/>
          <a:ln>
            <a:noFill/>
          </a:ln>
        </p:spPr>
      </p:pic>
      <p:pic>
        <p:nvPicPr>
          <p:cNvPr id="194" name="Google Shape;194;p7"/>
          <p:cNvPicPr preferRelativeResize="0"/>
          <p:nvPr/>
        </p:nvPicPr>
        <p:blipFill rotWithShape="1">
          <a:blip r:embed="rId5">
            <a:alphaModFix/>
          </a:blip>
          <a:srcRect b="0" l="0" r="0" t="0"/>
          <a:stretch/>
        </p:blipFill>
        <p:spPr>
          <a:xfrm>
            <a:off x="5308600" y="2298700"/>
            <a:ext cx="1193800" cy="1193800"/>
          </a:xfrm>
          <a:prstGeom prst="rect">
            <a:avLst/>
          </a:prstGeom>
          <a:noFill/>
          <a:ln>
            <a:noFill/>
          </a:ln>
        </p:spPr>
      </p:pic>
      <p:pic>
        <p:nvPicPr>
          <p:cNvPr id="195" name="Google Shape;195;p7"/>
          <p:cNvPicPr preferRelativeResize="0"/>
          <p:nvPr/>
        </p:nvPicPr>
        <p:blipFill rotWithShape="1">
          <a:blip r:embed="rId6">
            <a:alphaModFix/>
          </a:blip>
          <a:srcRect b="0" l="0" r="0" t="0"/>
          <a:stretch/>
        </p:blipFill>
        <p:spPr>
          <a:xfrm>
            <a:off x="3911600" y="3695700"/>
            <a:ext cx="1193800" cy="1193800"/>
          </a:xfrm>
          <a:prstGeom prst="rect">
            <a:avLst/>
          </a:prstGeom>
          <a:noFill/>
          <a:ln>
            <a:noFill/>
          </a:ln>
        </p:spPr>
      </p:pic>
      <p:pic>
        <p:nvPicPr>
          <p:cNvPr id="196" name="Google Shape;196;p7"/>
          <p:cNvPicPr preferRelativeResize="0"/>
          <p:nvPr/>
        </p:nvPicPr>
        <p:blipFill rotWithShape="1">
          <a:blip r:embed="rId7">
            <a:alphaModFix/>
          </a:blip>
          <a:srcRect b="0" l="0" r="0" t="0"/>
          <a:stretch/>
        </p:blipFill>
        <p:spPr>
          <a:xfrm>
            <a:off x="5308600" y="3695700"/>
            <a:ext cx="1193800" cy="1193800"/>
          </a:xfrm>
          <a:prstGeom prst="rect">
            <a:avLst/>
          </a:prstGeom>
          <a:noFill/>
          <a:ln>
            <a:noFill/>
          </a:ln>
        </p:spPr>
      </p:pic>
      <p:sp>
        <p:nvSpPr>
          <p:cNvPr id="197" name="Google Shape;197;p7"/>
          <p:cNvSpPr txBox="1"/>
          <p:nvPr/>
        </p:nvSpPr>
        <p:spPr>
          <a:xfrm>
            <a:off x="4178300" y="2565400"/>
            <a:ext cx="660400" cy="660400"/>
          </a:xfrm>
          <a:prstGeom prst="rect">
            <a:avLst/>
          </a:prstGeom>
          <a:solidFill>
            <a:srgbClr val="000000">
              <a:alpha val="0"/>
            </a:srgbClr>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2400" u="none" cap="none" strike="noStrike">
                <a:solidFill>
                  <a:srgbClr val="000000"/>
                </a:solidFill>
                <a:latin typeface="Arial"/>
                <a:ea typeface="Arial"/>
                <a:cs typeface="Arial"/>
                <a:sym typeface="Arial"/>
              </a:rPr>
              <a:t>01</a:t>
            </a:r>
            <a:endParaRPr b="0" i="0" sz="1100" u="none" cap="none" strike="noStrike">
              <a:solidFill>
                <a:schemeClr val="dk1"/>
              </a:solidFill>
              <a:latin typeface="Calibri"/>
              <a:ea typeface="Calibri"/>
              <a:cs typeface="Calibri"/>
              <a:sym typeface="Calibri"/>
            </a:endParaRPr>
          </a:p>
        </p:txBody>
      </p:sp>
      <p:sp>
        <p:nvSpPr>
          <p:cNvPr id="198" name="Google Shape;198;p7"/>
          <p:cNvSpPr txBox="1"/>
          <p:nvPr/>
        </p:nvSpPr>
        <p:spPr>
          <a:xfrm>
            <a:off x="5575300" y="2565400"/>
            <a:ext cx="660400" cy="660400"/>
          </a:xfrm>
          <a:prstGeom prst="rect">
            <a:avLst/>
          </a:prstGeom>
          <a:solidFill>
            <a:srgbClr val="000000">
              <a:alpha val="0"/>
            </a:srgbClr>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2400" u="none" cap="none" strike="noStrike">
                <a:solidFill>
                  <a:srgbClr val="000000"/>
                </a:solidFill>
                <a:latin typeface="Arial"/>
                <a:ea typeface="Arial"/>
                <a:cs typeface="Arial"/>
                <a:sym typeface="Arial"/>
              </a:rPr>
              <a:t>02</a:t>
            </a:r>
            <a:endParaRPr b="0" i="0" sz="1100" u="none" cap="none" strike="noStrike">
              <a:solidFill>
                <a:schemeClr val="dk1"/>
              </a:solidFill>
              <a:latin typeface="Calibri"/>
              <a:ea typeface="Calibri"/>
              <a:cs typeface="Calibri"/>
              <a:sym typeface="Calibri"/>
            </a:endParaRPr>
          </a:p>
        </p:txBody>
      </p:sp>
      <p:sp>
        <p:nvSpPr>
          <p:cNvPr id="199" name="Google Shape;199;p7"/>
          <p:cNvSpPr txBox="1"/>
          <p:nvPr/>
        </p:nvSpPr>
        <p:spPr>
          <a:xfrm>
            <a:off x="4178300" y="3962400"/>
            <a:ext cx="660400" cy="660400"/>
          </a:xfrm>
          <a:prstGeom prst="rect">
            <a:avLst/>
          </a:prstGeom>
          <a:solidFill>
            <a:srgbClr val="000000">
              <a:alpha val="0"/>
            </a:srgbClr>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2400" u="none" cap="none" strike="noStrike">
                <a:solidFill>
                  <a:srgbClr val="060606"/>
                </a:solidFill>
                <a:latin typeface="Arial"/>
                <a:ea typeface="Arial"/>
                <a:cs typeface="Arial"/>
                <a:sym typeface="Arial"/>
              </a:rPr>
              <a:t>03</a:t>
            </a:r>
            <a:endParaRPr b="0" i="0" sz="1100" u="none" cap="none" strike="noStrike">
              <a:solidFill>
                <a:schemeClr val="dk1"/>
              </a:solidFill>
              <a:latin typeface="Calibri"/>
              <a:ea typeface="Calibri"/>
              <a:cs typeface="Calibri"/>
              <a:sym typeface="Calibri"/>
            </a:endParaRPr>
          </a:p>
        </p:txBody>
      </p:sp>
      <p:sp>
        <p:nvSpPr>
          <p:cNvPr id="200" name="Google Shape;200;p7"/>
          <p:cNvSpPr txBox="1"/>
          <p:nvPr/>
        </p:nvSpPr>
        <p:spPr>
          <a:xfrm>
            <a:off x="5575300" y="3962400"/>
            <a:ext cx="660400" cy="660400"/>
          </a:xfrm>
          <a:prstGeom prst="rect">
            <a:avLst/>
          </a:prstGeom>
          <a:solidFill>
            <a:srgbClr val="000000">
              <a:alpha val="0"/>
            </a:srgbClr>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2400" u="none" cap="none" strike="noStrike">
                <a:solidFill>
                  <a:srgbClr val="000000"/>
                </a:solidFill>
                <a:latin typeface="Arial"/>
                <a:ea typeface="Arial"/>
                <a:cs typeface="Arial"/>
                <a:sym typeface="Arial"/>
              </a:rPr>
              <a:t>04</a:t>
            </a:r>
            <a:endParaRPr b="0" i="0" sz="1100" u="none" cap="none" strike="noStrike">
              <a:solidFill>
                <a:schemeClr val="dk1"/>
              </a:solidFill>
              <a:latin typeface="Calibri"/>
              <a:ea typeface="Calibri"/>
              <a:cs typeface="Calibri"/>
              <a:sym typeface="Calibri"/>
            </a:endParaRPr>
          </a:p>
        </p:txBody>
      </p:sp>
      <p:sp>
        <p:nvSpPr>
          <p:cNvPr id="201" name="Google Shape;201;p7"/>
          <p:cNvSpPr txBox="1"/>
          <p:nvPr/>
        </p:nvSpPr>
        <p:spPr>
          <a:xfrm>
            <a:off x="1016000" y="406400"/>
            <a:ext cx="8356600" cy="533400"/>
          </a:xfrm>
          <a:prstGeom prst="rect">
            <a:avLst/>
          </a:prstGeom>
          <a:solidFill>
            <a:srgbClr val="000000">
              <a:alpha val="0"/>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en-US" sz="2800" u="none" cap="none" strike="noStrike">
                <a:solidFill>
                  <a:srgbClr val="226FD4"/>
                </a:solidFill>
                <a:latin typeface="Arial"/>
                <a:ea typeface="Arial"/>
                <a:cs typeface="Arial"/>
                <a:sym typeface="Arial"/>
              </a:rPr>
              <a:t>AI Vs Data Science Vs Machine Learning</a:t>
            </a:r>
            <a:endParaRPr b="0" i="0" sz="1100" u="none" cap="none" strike="noStrike">
              <a:solidFill>
                <a:schemeClr val="dk1"/>
              </a:solidFill>
              <a:latin typeface="Calibri"/>
              <a:ea typeface="Calibri"/>
              <a:cs typeface="Calibri"/>
              <a:sym typeface="Calibri"/>
            </a:endParaRPr>
          </a:p>
        </p:txBody>
      </p:sp>
      <p:sp>
        <p:nvSpPr>
          <p:cNvPr id="202" name="Google Shape;202;p7"/>
          <p:cNvSpPr txBox="1"/>
          <p:nvPr/>
        </p:nvSpPr>
        <p:spPr>
          <a:xfrm>
            <a:off x="1016000" y="1549400"/>
            <a:ext cx="2692400" cy="266700"/>
          </a:xfrm>
          <a:prstGeom prst="rect">
            <a:avLst/>
          </a:prstGeom>
          <a:solidFill>
            <a:srgbClr val="000000">
              <a:alpha val="0"/>
            </a:srgbClr>
          </a:solid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1" i="0" lang="en-US" sz="1800" u="none" cap="none" strike="noStrike">
                <a:solidFill>
                  <a:srgbClr val="226FD4"/>
                </a:solidFill>
                <a:latin typeface="Arial"/>
                <a:ea typeface="Arial"/>
                <a:cs typeface="Arial"/>
                <a:sym typeface="Arial"/>
              </a:rPr>
              <a:t>Strength in Integration</a:t>
            </a:r>
            <a:endParaRPr b="0" i="0" sz="1100" u="none" cap="none" strike="noStrike">
              <a:solidFill>
                <a:schemeClr val="dk1"/>
              </a:solidFill>
              <a:latin typeface="Calibri"/>
              <a:ea typeface="Calibri"/>
              <a:cs typeface="Calibri"/>
              <a:sym typeface="Calibri"/>
            </a:endParaRPr>
          </a:p>
        </p:txBody>
      </p:sp>
      <p:sp>
        <p:nvSpPr>
          <p:cNvPr id="203" name="Google Shape;203;p7"/>
          <p:cNvSpPr txBox="1"/>
          <p:nvPr/>
        </p:nvSpPr>
        <p:spPr>
          <a:xfrm>
            <a:off x="6705600" y="1816100"/>
            <a:ext cx="2692400" cy="266700"/>
          </a:xfrm>
          <a:prstGeom prst="rect">
            <a:avLst/>
          </a:prstGeom>
          <a:solidFill>
            <a:srgbClr val="000000">
              <a:alpha val="0"/>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en-US" sz="1800" u="none" cap="none" strike="noStrike">
                <a:solidFill>
                  <a:srgbClr val="226FD4"/>
                </a:solidFill>
                <a:latin typeface="Arial"/>
                <a:ea typeface="Arial"/>
                <a:cs typeface="Arial"/>
                <a:sym typeface="Arial"/>
              </a:rPr>
              <a:t>Weakness in Complexity</a:t>
            </a:r>
            <a:endParaRPr b="0" i="0" sz="1100" u="none" cap="none" strike="noStrike">
              <a:solidFill>
                <a:schemeClr val="dk1"/>
              </a:solidFill>
              <a:latin typeface="Calibri"/>
              <a:ea typeface="Calibri"/>
              <a:cs typeface="Calibri"/>
              <a:sym typeface="Calibri"/>
            </a:endParaRPr>
          </a:p>
        </p:txBody>
      </p:sp>
      <p:sp>
        <p:nvSpPr>
          <p:cNvPr id="204" name="Google Shape;204;p7"/>
          <p:cNvSpPr txBox="1"/>
          <p:nvPr/>
        </p:nvSpPr>
        <p:spPr>
          <a:xfrm>
            <a:off x="1016000" y="3695700"/>
            <a:ext cx="2692400" cy="546100"/>
          </a:xfrm>
          <a:prstGeom prst="rect">
            <a:avLst/>
          </a:prstGeom>
          <a:solidFill>
            <a:srgbClr val="000000">
              <a:alpha val="0"/>
            </a:srgbClr>
          </a:solid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1" i="0" lang="en-US" sz="1800" u="none" cap="none" strike="noStrike">
                <a:solidFill>
                  <a:srgbClr val="226FD4"/>
                </a:solidFill>
                <a:latin typeface="Arial"/>
                <a:ea typeface="Arial"/>
                <a:cs typeface="Arial"/>
                <a:sym typeface="Arial"/>
              </a:rPr>
              <a:t>Opportunities for Innovation</a:t>
            </a:r>
            <a:endParaRPr b="0" i="0" sz="1100" u="none" cap="none" strike="noStrike">
              <a:solidFill>
                <a:schemeClr val="dk1"/>
              </a:solidFill>
              <a:latin typeface="Calibri"/>
              <a:ea typeface="Calibri"/>
              <a:cs typeface="Calibri"/>
              <a:sym typeface="Calibri"/>
            </a:endParaRPr>
          </a:p>
        </p:txBody>
      </p:sp>
      <p:sp>
        <p:nvSpPr>
          <p:cNvPr id="205" name="Google Shape;205;p7"/>
          <p:cNvSpPr txBox="1"/>
          <p:nvPr/>
        </p:nvSpPr>
        <p:spPr>
          <a:xfrm>
            <a:off x="6705600" y="3695700"/>
            <a:ext cx="2692400" cy="266700"/>
          </a:xfrm>
          <a:prstGeom prst="rect">
            <a:avLst/>
          </a:prstGeom>
          <a:solidFill>
            <a:srgbClr val="000000">
              <a:alpha val="0"/>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en-US" sz="1800" u="none" cap="none" strike="noStrike">
                <a:solidFill>
                  <a:srgbClr val="226FD4"/>
                </a:solidFill>
                <a:latin typeface="Arial"/>
                <a:ea typeface="Arial"/>
                <a:cs typeface="Arial"/>
                <a:sym typeface="Arial"/>
              </a:rPr>
              <a:t>Threat of Misuse</a:t>
            </a:r>
            <a:endParaRPr b="0" i="0" sz="1100" u="none" cap="none" strike="noStrike">
              <a:solidFill>
                <a:schemeClr val="dk1"/>
              </a:solidFill>
              <a:latin typeface="Calibri"/>
              <a:ea typeface="Calibri"/>
              <a:cs typeface="Calibri"/>
              <a:sym typeface="Calibri"/>
            </a:endParaRPr>
          </a:p>
        </p:txBody>
      </p:sp>
      <p:sp>
        <p:nvSpPr>
          <p:cNvPr id="206" name="Google Shape;206;p7"/>
          <p:cNvSpPr txBox="1"/>
          <p:nvPr/>
        </p:nvSpPr>
        <p:spPr>
          <a:xfrm>
            <a:off x="1016000" y="1892300"/>
            <a:ext cx="2692400" cy="1600200"/>
          </a:xfrm>
          <a:prstGeom prst="rect">
            <a:avLst/>
          </a:prstGeom>
          <a:solidFill>
            <a:srgbClr val="000000">
              <a:alpha val="0"/>
            </a:srgbClr>
          </a:solid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The synergy between AI, Data Science, and Machine Learning enhances capabilities, allowing for more sophisticated data analysis and intelligent decision-making processes.</a:t>
            </a:r>
            <a:endParaRPr b="0" i="0" sz="1100" u="none" cap="none" strike="noStrike">
              <a:solidFill>
                <a:schemeClr val="dk1"/>
              </a:solidFill>
              <a:latin typeface="Calibri"/>
              <a:ea typeface="Calibri"/>
              <a:cs typeface="Calibri"/>
              <a:sym typeface="Calibri"/>
            </a:endParaRPr>
          </a:p>
        </p:txBody>
      </p:sp>
      <p:sp>
        <p:nvSpPr>
          <p:cNvPr id="207" name="Google Shape;207;p7"/>
          <p:cNvSpPr txBox="1"/>
          <p:nvPr/>
        </p:nvSpPr>
        <p:spPr>
          <a:xfrm>
            <a:off x="6705600" y="2159000"/>
            <a:ext cx="2692400" cy="1333500"/>
          </a:xfrm>
          <a:prstGeom prst="rect">
            <a:avLst/>
          </a:prstGeom>
          <a:solidFill>
            <a:srgbClr val="000000">
              <a:alpha val="0"/>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The intricate nature of these fields can lead to challenges in understanding and implementing effective solutions, often requiring specialized knowledge and skills.</a:t>
            </a:r>
            <a:endParaRPr b="0" i="0" sz="1100" u="none" cap="none" strike="noStrike">
              <a:solidFill>
                <a:schemeClr val="dk1"/>
              </a:solidFill>
              <a:latin typeface="Calibri"/>
              <a:ea typeface="Calibri"/>
              <a:cs typeface="Calibri"/>
              <a:sym typeface="Calibri"/>
            </a:endParaRPr>
          </a:p>
        </p:txBody>
      </p:sp>
      <p:sp>
        <p:nvSpPr>
          <p:cNvPr id="208" name="Google Shape;208;p7"/>
          <p:cNvSpPr txBox="1"/>
          <p:nvPr/>
        </p:nvSpPr>
        <p:spPr>
          <a:xfrm>
            <a:off x="1016000" y="4318000"/>
            <a:ext cx="2692400" cy="1600200"/>
          </a:xfrm>
          <a:prstGeom prst="rect">
            <a:avLst/>
          </a:prstGeom>
          <a:solidFill>
            <a:srgbClr val="000000">
              <a:alpha val="0"/>
            </a:srgbClr>
          </a:solid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Rapid advancements in technology present opportunities for developing new applications and improving existing systems across various industries, driving growth and efficiency.</a:t>
            </a:r>
            <a:endParaRPr b="0" i="0" sz="1100" u="none" cap="none" strike="noStrike">
              <a:solidFill>
                <a:schemeClr val="dk1"/>
              </a:solidFill>
              <a:latin typeface="Calibri"/>
              <a:ea typeface="Calibri"/>
              <a:cs typeface="Calibri"/>
              <a:sym typeface="Calibri"/>
            </a:endParaRPr>
          </a:p>
        </p:txBody>
      </p:sp>
      <p:sp>
        <p:nvSpPr>
          <p:cNvPr id="209" name="Google Shape;209;p7"/>
          <p:cNvSpPr txBox="1"/>
          <p:nvPr/>
        </p:nvSpPr>
        <p:spPr>
          <a:xfrm>
            <a:off x="6705600" y="4051300"/>
            <a:ext cx="2692400" cy="1600200"/>
          </a:xfrm>
          <a:prstGeom prst="rect">
            <a:avLst/>
          </a:prstGeom>
          <a:solidFill>
            <a:srgbClr val="000000">
              <a:alpha val="0"/>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The potential for ethical concerns and misuse of AI and data-driven technologies poses significant risks, necessitating robust governance and regulatory frameworks to ensure responsible use.</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pic>
        <p:nvPicPr>
          <p:cNvPr id="214" name="Google Shape;214;p8"/>
          <p:cNvPicPr preferRelativeResize="0"/>
          <p:nvPr/>
        </p:nvPicPr>
        <p:blipFill rotWithShape="1">
          <a:blip r:embed="rId3">
            <a:alphaModFix/>
          </a:blip>
          <a:srcRect b="0" l="11000" r="11000" t="0"/>
          <a:stretch/>
        </p:blipFill>
        <p:spPr>
          <a:xfrm>
            <a:off x="0" y="0"/>
            <a:ext cx="10388600" cy="7378700"/>
          </a:xfrm>
          <a:prstGeom prst="rect">
            <a:avLst/>
          </a:prstGeom>
          <a:noFill/>
          <a:ln>
            <a:noFill/>
          </a:ln>
        </p:spPr>
      </p:pic>
      <p:sp>
        <p:nvSpPr>
          <p:cNvPr id="215" name="Google Shape;215;p8"/>
          <p:cNvSpPr/>
          <p:nvPr/>
        </p:nvSpPr>
        <p:spPr>
          <a:xfrm>
            <a:off x="0" y="0"/>
            <a:ext cx="10388600" cy="7378700"/>
          </a:xfrm>
          <a:prstGeom prst="rect">
            <a:avLst/>
          </a:prstGeom>
          <a:solidFill>
            <a:srgbClr val="EDF4FD">
              <a:alpha val="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16" name="Google Shape;216;p8"/>
          <p:cNvPicPr preferRelativeResize="0"/>
          <p:nvPr/>
        </p:nvPicPr>
        <p:blipFill rotWithShape="1">
          <a:blip r:embed="rId4">
            <a:alphaModFix/>
          </a:blip>
          <a:srcRect b="0" l="27000" r="26999" t="0"/>
          <a:stretch/>
        </p:blipFill>
        <p:spPr>
          <a:xfrm>
            <a:off x="0" y="0"/>
            <a:ext cx="3454400" cy="7378700"/>
          </a:xfrm>
          <a:prstGeom prst="rect">
            <a:avLst/>
          </a:prstGeom>
          <a:noFill/>
          <a:ln>
            <a:noFill/>
          </a:ln>
        </p:spPr>
      </p:pic>
      <p:sp>
        <p:nvSpPr>
          <p:cNvPr id="217" name="Google Shape;217;p8"/>
          <p:cNvSpPr/>
          <p:nvPr/>
        </p:nvSpPr>
        <p:spPr>
          <a:xfrm>
            <a:off x="4318000" y="1689100"/>
            <a:ext cx="5054600" cy="1651000"/>
          </a:xfrm>
          <a:prstGeom prst="roundRect">
            <a:avLst>
              <a:gd fmla="val 11538" name="adj"/>
            </a:avLst>
          </a:prstGeom>
          <a:solidFill>
            <a:srgbClr val="F2F4F6"/>
          </a:solidFill>
          <a:ln cap="flat" cmpd="sng" w="12700">
            <a:solidFill>
              <a:srgbClr val="000000">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8"/>
          <p:cNvSpPr/>
          <p:nvPr/>
        </p:nvSpPr>
        <p:spPr>
          <a:xfrm>
            <a:off x="4318000" y="3492500"/>
            <a:ext cx="5054600" cy="1651000"/>
          </a:xfrm>
          <a:prstGeom prst="roundRect">
            <a:avLst>
              <a:gd fmla="val 11538" name="adj"/>
            </a:avLst>
          </a:prstGeom>
          <a:solidFill>
            <a:srgbClr val="F2F4F6"/>
          </a:solidFill>
          <a:ln cap="flat" cmpd="sng" w="12700">
            <a:solidFill>
              <a:srgbClr val="000000">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p8"/>
          <p:cNvSpPr/>
          <p:nvPr/>
        </p:nvSpPr>
        <p:spPr>
          <a:xfrm>
            <a:off x="4318000" y="5308600"/>
            <a:ext cx="5054600" cy="1651000"/>
          </a:xfrm>
          <a:prstGeom prst="roundRect">
            <a:avLst>
              <a:gd fmla="val 11538" name="adj"/>
            </a:avLst>
          </a:prstGeom>
          <a:solidFill>
            <a:srgbClr val="F2F4F6"/>
          </a:solidFill>
          <a:ln cap="flat" cmpd="sng" w="12700">
            <a:solidFill>
              <a:srgbClr val="000000">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 name="Google Shape;220;p8"/>
          <p:cNvSpPr/>
          <p:nvPr/>
        </p:nvSpPr>
        <p:spPr>
          <a:xfrm>
            <a:off x="0" y="0"/>
            <a:ext cx="3454400" cy="7378700"/>
          </a:xfrm>
          <a:prstGeom prst="rect">
            <a:avLst/>
          </a:prstGeom>
          <a:solidFill>
            <a:srgbClr val="000000">
              <a:alpha val="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8"/>
          <p:cNvSpPr/>
          <p:nvPr/>
        </p:nvSpPr>
        <p:spPr>
          <a:xfrm>
            <a:off x="4318000" y="1854200"/>
            <a:ext cx="0" cy="13081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8"/>
          <p:cNvSpPr/>
          <p:nvPr/>
        </p:nvSpPr>
        <p:spPr>
          <a:xfrm>
            <a:off x="4318000" y="3657600"/>
            <a:ext cx="0" cy="13081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 name="Google Shape;223;p8"/>
          <p:cNvSpPr/>
          <p:nvPr/>
        </p:nvSpPr>
        <p:spPr>
          <a:xfrm>
            <a:off x="4318000" y="5473700"/>
            <a:ext cx="0" cy="13081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 name="Google Shape;224;p8"/>
          <p:cNvSpPr/>
          <p:nvPr/>
        </p:nvSpPr>
        <p:spPr>
          <a:xfrm>
            <a:off x="0" y="0"/>
            <a:ext cx="0" cy="0"/>
          </a:xfrm>
          <a:prstGeom prst="rect">
            <a:avLst/>
          </a:prstGeom>
          <a:solidFill>
            <a:srgbClr val="000000">
              <a:alpha val="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8"/>
          <p:cNvSpPr txBox="1"/>
          <p:nvPr/>
        </p:nvSpPr>
        <p:spPr>
          <a:xfrm>
            <a:off x="4318000" y="533400"/>
            <a:ext cx="5054600" cy="850900"/>
          </a:xfrm>
          <a:prstGeom prst="rect">
            <a:avLst/>
          </a:prstGeom>
          <a:solidFill>
            <a:srgbClr val="000000">
              <a:alpha val="0"/>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en-US" sz="2800" u="none" cap="none" strike="noStrike">
                <a:solidFill>
                  <a:srgbClr val="226FD4"/>
                </a:solidFill>
                <a:latin typeface="Arial"/>
                <a:ea typeface="Arial"/>
                <a:cs typeface="Arial"/>
                <a:sym typeface="Arial"/>
              </a:rPr>
              <a:t>Applications of Deep Learning Networks</a:t>
            </a:r>
            <a:endParaRPr b="0" i="0" sz="1100" u="none" cap="none" strike="noStrike">
              <a:solidFill>
                <a:schemeClr val="dk1"/>
              </a:solidFill>
              <a:latin typeface="Calibri"/>
              <a:ea typeface="Calibri"/>
              <a:cs typeface="Calibri"/>
              <a:sym typeface="Calibri"/>
            </a:endParaRPr>
          </a:p>
        </p:txBody>
      </p:sp>
      <p:sp>
        <p:nvSpPr>
          <p:cNvPr id="226" name="Google Shape;226;p8"/>
          <p:cNvSpPr txBox="1"/>
          <p:nvPr/>
        </p:nvSpPr>
        <p:spPr>
          <a:xfrm>
            <a:off x="4533900" y="1905000"/>
            <a:ext cx="4622800" cy="266700"/>
          </a:xfrm>
          <a:prstGeom prst="rect">
            <a:avLst/>
          </a:prstGeom>
          <a:solidFill>
            <a:srgbClr val="000000">
              <a:alpha val="0"/>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en-US" sz="1800" u="none" cap="none" strike="noStrike">
                <a:solidFill>
                  <a:srgbClr val="000000"/>
                </a:solidFill>
                <a:latin typeface="Arial"/>
                <a:ea typeface="Arial"/>
                <a:cs typeface="Arial"/>
                <a:sym typeface="Arial"/>
              </a:rPr>
              <a:t>Enhanced Image Recognition</a:t>
            </a:r>
            <a:endParaRPr b="0" i="0" sz="1100" u="none" cap="none" strike="noStrike">
              <a:solidFill>
                <a:schemeClr val="dk1"/>
              </a:solidFill>
              <a:latin typeface="Calibri"/>
              <a:ea typeface="Calibri"/>
              <a:cs typeface="Calibri"/>
              <a:sym typeface="Calibri"/>
            </a:endParaRPr>
          </a:p>
        </p:txBody>
      </p:sp>
      <p:sp>
        <p:nvSpPr>
          <p:cNvPr id="227" name="Google Shape;227;p8"/>
          <p:cNvSpPr txBox="1"/>
          <p:nvPr/>
        </p:nvSpPr>
        <p:spPr>
          <a:xfrm>
            <a:off x="4533900" y="3708400"/>
            <a:ext cx="4622800" cy="266700"/>
          </a:xfrm>
          <a:prstGeom prst="rect">
            <a:avLst/>
          </a:prstGeom>
          <a:solidFill>
            <a:srgbClr val="000000">
              <a:alpha val="0"/>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en-US" sz="1800" u="none" cap="none" strike="noStrike">
                <a:solidFill>
                  <a:srgbClr val="000000"/>
                </a:solidFill>
                <a:latin typeface="Arial"/>
                <a:ea typeface="Arial"/>
                <a:cs typeface="Arial"/>
                <a:sym typeface="Arial"/>
              </a:rPr>
              <a:t>Advanced Language Understanding</a:t>
            </a:r>
            <a:endParaRPr b="0" i="0" sz="1100" u="none" cap="none" strike="noStrike">
              <a:solidFill>
                <a:schemeClr val="dk1"/>
              </a:solidFill>
              <a:latin typeface="Calibri"/>
              <a:ea typeface="Calibri"/>
              <a:cs typeface="Calibri"/>
              <a:sym typeface="Calibri"/>
            </a:endParaRPr>
          </a:p>
        </p:txBody>
      </p:sp>
      <p:sp>
        <p:nvSpPr>
          <p:cNvPr id="228" name="Google Shape;228;p8"/>
          <p:cNvSpPr txBox="1"/>
          <p:nvPr/>
        </p:nvSpPr>
        <p:spPr>
          <a:xfrm>
            <a:off x="4533900" y="5524500"/>
            <a:ext cx="4622800" cy="266700"/>
          </a:xfrm>
          <a:prstGeom prst="rect">
            <a:avLst/>
          </a:prstGeom>
          <a:solidFill>
            <a:srgbClr val="000000">
              <a:alpha val="0"/>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en-US" sz="1800" u="none" cap="none" strike="noStrike">
                <a:solidFill>
                  <a:srgbClr val="000000"/>
                </a:solidFill>
                <a:latin typeface="Arial"/>
                <a:ea typeface="Arial"/>
                <a:cs typeface="Arial"/>
                <a:sym typeface="Arial"/>
              </a:rPr>
              <a:t>Predictive Healthcare Analytics</a:t>
            </a:r>
            <a:endParaRPr b="0" i="0" sz="1100" u="none" cap="none" strike="noStrike">
              <a:solidFill>
                <a:schemeClr val="dk1"/>
              </a:solidFill>
              <a:latin typeface="Calibri"/>
              <a:ea typeface="Calibri"/>
              <a:cs typeface="Calibri"/>
              <a:sym typeface="Calibri"/>
            </a:endParaRPr>
          </a:p>
        </p:txBody>
      </p:sp>
      <p:sp>
        <p:nvSpPr>
          <p:cNvPr id="229" name="Google Shape;229;p8"/>
          <p:cNvSpPr txBox="1"/>
          <p:nvPr/>
        </p:nvSpPr>
        <p:spPr>
          <a:xfrm>
            <a:off x="4533900" y="2273300"/>
            <a:ext cx="4622800" cy="850900"/>
          </a:xfrm>
          <a:prstGeom prst="rect">
            <a:avLst/>
          </a:prstGeom>
          <a:solidFill>
            <a:srgbClr val="000000">
              <a:alpha val="0"/>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i="0" lang="en-US" sz="1400" u="none" cap="none" strike="noStrike">
                <a:solidFill>
                  <a:srgbClr val="69749F"/>
                </a:solidFill>
                <a:latin typeface="Arial"/>
                <a:ea typeface="Arial"/>
                <a:cs typeface="Arial"/>
                <a:sym typeface="Arial"/>
              </a:rPr>
              <a:t>Deep learning networks, particularly CNNs, have revolutionized image recognition tasks, enabling applications in security, healthcare, and social media by providing high accuracy in identifying and classifying visual data.</a:t>
            </a:r>
            <a:endParaRPr b="0" i="0" sz="1100" u="none" cap="none" strike="noStrike">
              <a:solidFill>
                <a:schemeClr val="dk1"/>
              </a:solidFill>
              <a:latin typeface="Calibri"/>
              <a:ea typeface="Calibri"/>
              <a:cs typeface="Calibri"/>
              <a:sym typeface="Calibri"/>
            </a:endParaRPr>
          </a:p>
        </p:txBody>
      </p:sp>
      <p:sp>
        <p:nvSpPr>
          <p:cNvPr id="230" name="Google Shape;230;p8"/>
          <p:cNvSpPr txBox="1"/>
          <p:nvPr/>
        </p:nvSpPr>
        <p:spPr>
          <a:xfrm>
            <a:off x="4533900" y="4089400"/>
            <a:ext cx="4622800" cy="850900"/>
          </a:xfrm>
          <a:prstGeom prst="rect">
            <a:avLst/>
          </a:prstGeom>
          <a:solidFill>
            <a:srgbClr val="000000">
              <a:alpha val="0"/>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i="0" lang="en-US" sz="1400" u="none" cap="none" strike="noStrike">
                <a:solidFill>
                  <a:srgbClr val="69749F"/>
                </a:solidFill>
                <a:latin typeface="Arial"/>
                <a:ea typeface="Arial"/>
                <a:cs typeface="Arial"/>
                <a:sym typeface="Arial"/>
              </a:rPr>
              <a:t>In NLP, deep learning models like transformers have significantly improved the ability to understand context and semantics, leading to more effective machine translation and sentiment analysis across various languages.</a:t>
            </a:r>
            <a:endParaRPr b="0" i="0" sz="1100" u="none" cap="none" strike="noStrike">
              <a:solidFill>
                <a:schemeClr val="dk1"/>
              </a:solidFill>
              <a:latin typeface="Calibri"/>
              <a:ea typeface="Calibri"/>
              <a:cs typeface="Calibri"/>
              <a:sym typeface="Calibri"/>
            </a:endParaRPr>
          </a:p>
        </p:txBody>
      </p:sp>
      <p:sp>
        <p:nvSpPr>
          <p:cNvPr id="231" name="Google Shape;231;p8"/>
          <p:cNvSpPr txBox="1"/>
          <p:nvPr/>
        </p:nvSpPr>
        <p:spPr>
          <a:xfrm>
            <a:off x="4533900" y="5905500"/>
            <a:ext cx="4622800" cy="850900"/>
          </a:xfrm>
          <a:prstGeom prst="rect">
            <a:avLst/>
          </a:prstGeom>
          <a:solidFill>
            <a:srgbClr val="000000">
              <a:alpha val="0"/>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i="0" lang="en-US" sz="1400" u="none" cap="none" strike="noStrike">
                <a:solidFill>
                  <a:srgbClr val="69749F"/>
                </a:solidFill>
                <a:latin typeface="Arial"/>
                <a:ea typeface="Arial"/>
                <a:cs typeface="Arial"/>
                <a:sym typeface="Arial"/>
              </a:rPr>
              <a:t>Deep learning is increasingly utilized in healthcare for predictive analytics, allowing for early disease detection and personalized treatment plans by analyzing vast amounts of patient data and medical records.</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pic>
        <p:nvPicPr>
          <p:cNvPr id="236" name="Google Shape;236;p9"/>
          <p:cNvPicPr preferRelativeResize="0"/>
          <p:nvPr/>
        </p:nvPicPr>
        <p:blipFill rotWithShape="1">
          <a:blip r:embed="rId3">
            <a:alphaModFix/>
          </a:blip>
          <a:srcRect b="0" l="1000" r="999" t="0"/>
          <a:stretch/>
        </p:blipFill>
        <p:spPr>
          <a:xfrm>
            <a:off x="0" y="0"/>
            <a:ext cx="10388600" cy="5854700"/>
          </a:xfrm>
          <a:prstGeom prst="rect">
            <a:avLst/>
          </a:prstGeom>
          <a:noFill/>
          <a:ln>
            <a:noFill/>
          </a:ln>
        </p:spPr>
      </p:pic>
      <p:sp>
        <p:nvSpPr>
          <p:cNvPr id="237" name="Google Shape;237;p9"/>
          <p:cNvSpPr/>
          <p:nvPr/>
        </p:nvSpPr>
        <p:spPr>
          <a:xfrm>
            <a:off x="0" y="0"/>
            <a:ext cx="10388600" cy="5854700"/>
          </a:xfrm>
          <a:prstGeom prst="rect">
            <a:avLst/>
          </a:prstGeom>
          <a:solidFill>
            <a:srgbClr val="000000">
              <a:alpha val="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38" name="Google Shape;238;p9"/>
          <p:cNvPicPr preferRelativeResize="0"/>
          <p:nvPr/>
        </p:nvPicPr>
        <p:blipFill rotWithShape="1">
          <a:blip r:embed="rId4">
            <a:alphaModFix/>
          </a:blip>
          <a:srcRect b="0" l="1000" r="999" t="0"/>
          <a:stretch/>
        </p:blipFill>
        <p:spPr>
          <a:xfrm>
            <a:off x="0" y="0"/>
            <a:ext cx="3632200" cy="5854700"/>
          </a:xfrm>
          <a:prstGeom prst="rect">
            <a:avLst/>
          </a:prstGeom>
          <a:noFill/>
          <a:ln>
            <a:noFill/>
          </a:ln>
        </p:spPr>
      </p:pic>
      <p:sp>
        <p:nvSpPr>
          <p:cNvPr id="239" name="Google Shape;239;p9"/>
          <p:cNvSpPr/>
          <p:nvPr/>
        </p:nvSpPr>
        <p:spPr>
          <a:xfrm>
            <a:off x="4445000" y="2641600"/>
            <a:ext cx="5537200" cy="241300"/>
          </a:xfrm>
          <a:prstGeom prst="rect">
            <a:avLst/>
          </a:prstGeom>
          <a:solidFill>
            <a:srgbClr val="000000">
              <a:alpha val="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 name="Google Shape;240;p9"/>
          <p:cNvSpPr/>
          <p:nvPr/>
        </p:nvSpPr>
        <p:spPr>
          <a:xfrm>
            <a:off x="0" y="0"/>
            <a:ext cx="3632200" cy="5854700"/>
          </a:xfrm>
          <a:prstGeom prst="rect">
            <a:avLst/>
          </a:prstGeom>
          <a:solidFill>
            <a:srgbClr val="000000">
              <a:alpha val="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9"/>
          <p:cNvSpPr/>
          <p:nvPr/>
        </p:nvSpPr>
        <p:spPr>
          <a:xfrm>
            <a:off x="3632200" y="762000"/>
            <a:ext cx="3111500" cy="0"/>
          </a:xfrm>
          <a:prstGeom prst="rect">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9"/>
          <p:cNvSpPr/>
          <p:nvPr/>
        </p:nvSpPr>
        <p:spPr>
          <a:xfrm>
            <a:off x="4445000" y="1397000"/>
            <a:ext cx="5537200" cy="1485900"/>
          </a:xfrm>
          <a:prstGeom prst="rect">
            <a:avLst/>
          </a:prstGeom>
          <a:solidFill>
            <a:srgbClr val="00694C">
              <a:alpha val="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 name="Google Shape;243;p9"/>
          <p:cNvSpPr txBox="1"/>
          <p:nvPr/>
        </p:nvSpPr>
        <p:spPr>
          <a:xfrm>
            <a:off x="4445000" y="1397000"/>
            <a:ext cx="5537200" cy="939800"/>
          </a:xfrm>
          <a:prstGeom prst="rect">
            <a:avLst/>
          </a:prstGeom>
          <a:solidFill>
            <a:srgbClr val="000000">
              <a:alpha val="0"/>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en-US" sz="6200" u="none" cap="none" strike="noStrike">
                <a:solidFill>
                  <a:srgbClr val="226FD4"/>
                </a:solidFill>
                <a:latin typeface="Arial"/>
                <a:ea typeface="Arial"/>
                <a:cs typeface="Arial"/>
                <a:sym typeface="Arial"/>
              </a:rPr>
              <a:t>Thank You</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cp:coreProperties>
</file>