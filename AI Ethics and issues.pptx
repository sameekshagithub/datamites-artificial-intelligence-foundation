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5" roundtripDataSignature="AMtx7mhIhZxXuqLOjs6qsvaSpBKbp2Ie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 name="Google Shape;4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1e01ef69504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1e01ef69504_0_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 name="Google Shape;56;g1e01ef69504_0_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9f85fd9a62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 name="Google Shape;70;g19f85fd9a62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e01ef6950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g1e01ef69504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 name="Google Shape;78;g1e01ef69504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e01ef69504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g1e01ef69504_0_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1e01ef69504_0_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e01ef69504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g1e01ef69504_0_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g1e01ef69504_0_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e01ef69504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1e01ef69504_0_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1e01ef69504_0_10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e01ef69504_0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g1e01ef69504_0_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g1e01ef69504_0_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e01ef69504_0_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1e01ef69504_0_1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g1e01ef69504_0_1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eec5942916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g1eec5942916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e01ef69504_0_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g1e01ef69504_0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e01ef69504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1e01ef69504_0_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g1e01ef69504_0_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e01ef69504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1e01ef69504_0_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1e01ef69504_0_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e01ef69504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1e01ef69504_0_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g1e01ef69504_0_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e01ef69504_0_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1e01ef69504_0_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g1e01ef69504_0_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e01ef69504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1e01ef69504_0_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g1e01ef69504_0_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120"/>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20"/>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9" name="Google Shape;19;p120"/>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121"/>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3200"/>
              <a:buFont typeface="Calibri"/>
              <a:buNone/>
              <a:defRPr sz="32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2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 name="Google Shape;23;p121"/>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121"/>
          <p:cNvSpPr/>
          <p:nvPr/>
        </p:nvSpPr>
        <p:spPr>
          <a:xfrm>
            <a:off x="0" y="666750"/>
            <a:ext cx="9144000" cy="45719"/>
          </a:xfrm>
          <a:prstGeom prst="rect">
            <a:avLst/>
          </a:prstGeom>
          <a:solidFill>
            <a:srgbClr val="E36C0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p122"/>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3"/>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23"/>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23"/>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12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24"/>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124"/>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124"/>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2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25"/>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125"/>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125"/>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125"/>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125"/>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12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26"/>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9"/>
          <p:cNvSpPr/>
          <p:nvPr/>
        </p:nvSpPr>
        <p:spPr>
          <a:xfrm>
            <a:off x="0" y="4888706"/>
            <a:ext cx="9144000" cy="254794"/>
          </a:xfrm>
          <a:prstGeom prst="rect">
            <a:avLst/>
          </a:prstGeom>
          <a:solidFill>
            <a:srgbClr val="538C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 name="Google Shape;11;p11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19"/>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 name="Google Shape;13;p119"/>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119"/>
          <p:cNvSpPr txBox="1"/>
          <p:nvPr/>
        </p:nvSpPr>
        <p:spPr>
          <a:xfrm>
            <a:off x="381000" y="4888706"/>
            <a:ext cx="7137057" cy="2738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 DataMites®. All Rights Reserved | www.datamites.com                    DATA SCIENCE FOUNDATION</a:t>
            </a:r>
            <a:endParaRPr b="1" i="0" sz="1200" u="none" cap="none" strike="noStrike">
              <a:solidFill>
                <a:schemeClr val="lt1"/>
              </a:solidFill>
              <a:latin typeface="Calibri"/>
              <a:ea typeface="Calibri"/>
              <a:cs typeface="Calibri"/>
              <a:sym typeface="Calibri"/>
            </a:endParaRPr>
          </a:p>
        </p:txBody>
      </p:sp>
      <p:pic>
        <p:nvPicPr>
          <p:cNvPr descr="Logo&#10;&#10;Description automatically generated" id="15" name="Google Shape;15;p119"/>
          <p:cNvPicPr preferRelativeResize="0"/>
          <p:nvPr/>
        </p:nvPicPr>
        <p:blipFill rotWithShape="1">
          <a:blip r:embed="rId1">
            <a:alphaModFix/>
          </a:blip>
          <a:srcRect b="0" l="0" r="0" t="0"/>
          <a:stretch/>
        </p:blipFill>
        <p:spPr>
          <a:xfrm>
            <a:off x="7822857" y="4635049"/>
            <a:ext cx="1168743" cy="30247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22"/>
          <p:cNvSpPr txBox="1"/>
          <p:nvPr>
            <p:ph type="ctrTitle"/>
          </p:nvPr>
        </p:nvSpPr>
        <p:spPr>
          <a:xfrm>
            <a:off x="4572000" y="1080925"/>
            <a:ext cx="3886200" cy="1314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960"/>
              <a:buFont typeface="Calibri"/>
              <a:buNone/>
            </a:pPr>
            <a:r>
              <a:rPr b="1" lang="en-US" sz="4000"/>
              <a:t>AI Ethical Issues And Concerns</a:t>
            </a:r>
            <a:endParaRPr b="1" sz="4000"/>
          </a:p>
        </p:txBody>
      </p:sp>
      <p:sp>
        <p:nvSpPr>
          <p:cNvPr id="51" name="Google Shape;51;p22"/>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pic>
        <p:nvPicPr>
          <p:cNvPr descr="Image result for machine learning robot" id="52" name="Google Shape;52;p22"/>
          <p:cNvPicPr preferRelativeResize="0"/>
          <p:nvPr/>
        </p:nvPicPr>
        <p:blipFill rotWithShape="1">
          <a:blip r:embed="rId3">
            <a:alphaModFix/>
          </a:blip>
          <a:srcRect b="0" l="0" r="0" t="0"/>
          <a:stretch/>
        </p:blipFill>
        <p:spPr>
          <a:xfrm>
            <a:off x="0" y="856000"/>
            <a:ext cx="4495800" cy="3371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g1e01ef69504_0_14"/>
          <p:cNvSpPr txBox="1"/>
          <p:nvPr>
            <p:ph type="title"/>
          </p:nvPr>
        </p:nvSpPr>
        <p:spPr>
          <a:xfrm>
            <a:off x="457200" y="133350"/>
            <a:ext cx="58023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lang="en-US"/>
              <a:t>Introduction to AI Ethical Issues</a:t>
            </a:r>
            <a:endParaRPr/>
          </a:p>
        </p:txBody>
      </p:sp>
      <p:sp>
        <p:nvSpPr>
          <p:cNvPr id="59" name="Google Shape;59;g1e01ef69504_0_14"/>
          <p:cNvSpPr txBox="1"/>
          <p:nvPr>
            <p:ph idx="1" type="body"/>
          </p:nvPr>
        </p:nvSpPr>
        <p:spPr>
          <a:xfrm>
            <a:off x="457200" y="1211251"/>
            <a:ext cx="82296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n-US" sz="1800"/>
              <a:t>Artificial Intelligence has been rapidly developing technology for decades and its applications are becoming increasingly prevalent in our daily lives. AI has potential to revolutionize many industries and processes, but it also raises ethical issues that need to be considered.</a:t>
            </a:r>
            <a:endParaRPr sz="1800"/>
          </a:p>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SzPts val="1800"/>
              <a:buNone/>
            </a:pPr>
            <a:r>
              <a:rPr lang="en-US" sz="1800"/>
              <a:t>AI technology is often designed to be unbiased, but it can be difficult to ensure that the data it is trained on is free from bias. This can lead to decisions being made that are not representative of the population, or that favor certain groups of people.</a:t>
            </a:r>
            <a:endParaRPr sz="1800"/>
          </a:p>
        </p:txBody>
      </p:sp>
      <p:sp>
        <p:nvSpPr>
          <p:cNvPr id="60" name="Google Shape;60;g1e01ef69504_0_14"/>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3"/>
          <p:cNvSpPr txBox="1"/>
          <p:nvPr>
            <p:ph type="title"/>
          </p:nvPr>
        </p:nvSpPr>
        <p:spPr>
          <a:xfrm>
            <a:off x="457200" y="133350"/>
            <a:ext cx="4781227"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sz="2800"/>
              <a:t>Issues And Concerns Around AI </a:t>
            </a:r>
            <a:endParaRPr sz="2800"/>
          </a:p>
        </p:txBody>
      </p:sp>
      <p:sp>
        <p:nvSpPr>
          <p:cNvPr id="66" name="Google Shape;66;p23"/>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fontScale="92500" lnSpcReduction="20000"/>
          </a:bodyPr>
          <a:lstStyle/>
          <a:p>
            <a:pPr indent="-340232" lvl="0" marL="457200" rtl="0" algn="l">
              <a:lnSpc>
                <a:spcPct val="100000"/>
              </a:lnSpc>
              <a:spcBef>
                <a:spcPts val="0"/>
              </a:spcBef>
              <a:spcAft>
                <a:spcPts val="0"/>
              </a:spcAft>
              <a:buSzPct val="100000"/>
              <a:buChar char="•"/>
            </a:pPr>
            <a:r>
              <a:rPr lang="en-US" sz="1900">
                <a:latin typeface="Calibri"/>
                <a:ea typeface="Calibri"/>
                <a:cs typeface="Calibri"/>
                <a:sym typeface="Calibri"/>
              </a:rPr>
              <a:t>Inaccuracy </a:t>
            </a:r>
            <a:endParaRPr sz="1900"/>
          </a:p>
          <a:p>
            <a:pPr indent="-340232" lvl="0" marL="457200" rtl="0" algn="l">
              <a:lnSpc>
                <a:spcPct val="100000"/>
              </a:lnSpc>
              <a:spcBef>
                <a:spcPts val="0"/>
              </a:spcBef>
              <a:spcAft>
                <a:spcPts val="0"/>
              </a:spcAft>
              <a:buSzPct val="100000"/>
              <a:buChar char="•"/>
            </a:pPr>
            <a:r>
              <a:rPr lang="en-US" sz="1900">
                <a:latin typeface="Calibri"/>
                <a:ea typeface="Calibri"/>
                <a:cs typeface="Calibri"/>
                <a:sym typeface="Calibri"/>
              </a:rPr>
              <a:t>Data breaches</a:t>
            </a:r>
            <a:endParaRPr sz="1900"/>
          </a:p>
          <a:p>
            <a:pPr indent="-340232" lvl="0" marL="457200" rtl="0" algn="l">
              <a:lnSpc>
                <a:spcPct val="100000"/>
              </a:lnSpc>
              <a:spcBef>
                <a:spcPts val="0"/>
              </a:spcBef>
              <a:spcAft>
                <a:spcPts val="0"/>
              </a:spcAft>
              <a:buSzPct val="100000"/>
              <a:buChar char="•"/>
            </a:pPr>
            <a:r>
              <a:rPr lang="en-US" sz="1900">
                <a:latin typeface="Calibri"/>
                <a:ea typeface="Calibri"/>
                <a:cs typeface="Calibri"/>
                <a:sym typeface="Calibri"/>
              </a:rPr>
              <a:t>Lack of quality data</a:t>
            </a:r>
            <a:endParaRPr sz="1900"/>
          </a:p>
          <a:p>
            <a:pPr indent="-340232" lvl="0" marL="457200" rtl="0" algn="l">
              <a:lnSpc>
                <a:spcPct val="100000"/>
              </a:lnSpc>
              <a:spcBef>
                <a:spcPts val="0"/>
              </a:spcBef>
              <a:spcAft>
                <a:spcPts val="0"/>
              </a:spcAft>
              <a:buSzPct val="100000"/>
              <a:buChar char="•"/>
            </a:pPr>
            <a:r>
              <a:rPr lang="en-US" sz="1900">
                <a:latin typeface="Calibri"/>
                <a:ea typeface="Calibri"/>
                <a:cs typeface="Calibri"/>
                <a:sym typeface="Calibri"/>
              </a:rPr>
              <a:t>Misuse of private data</a:t>
            </a:r>
            <a:endParaRPr sz="1900"/>
          </a:p>
          <a:p>
            <a:pPr indent="-340232" lvl="0" marL="457200" rtl="0" algn="l">
              <a:lnSpc>
                <a:spcPct val="100000"/>
              </a:lnSpc>
              <a:spcBef>
                <a:spcPts val="0"/>
              </a:spcBef>
              <a:spcAft>
                <a:spcPts val="0"/>
              </a:spcAft>
              <a:buSzPct val="100000"/>
              <a:buChar char="•"/>
            </a:pPr>
            <a:r>
              <a:rPr lang="en-US" sz="1900">
                <a:latin typeface="Calibri"/>
                <a:ea typeface="Calibri"/>
                <a:cs typeface="Calibri"/>
                <a:sym typeface="Calibri"/>
              </a:rPr>
              <a:t>Reduction of human contact</a:t>
            </a:r>
            <a:endParaRPr sz="1900"/>
          </a:p>
          <a:p>
            <a:pPr indent="-340232" lvl="0" marL="457200" rtl="0" algn="l">
              <a:lnSpc>
                <a:spcPct val="100000"/>
              </a:lnSpc>
              <a:spcBef>
                <a:spcPts val="0"/>
              </a:spcBef>
              <a:spcAft>
                <a:spcPts val="0"/>
              </a:spcAft>
              <a:buSzPct val="100000"/>
              <a:buChar char="•"/>
            </a:pPr>
            <a:r>
              <a:rPr b="0" i="0" lang="en-US" sz="1900">
                <a:solidFill>
                  <a:srgbClr val="030327"/>
                </a:solidFill>
                <a:latin typeface="Calibri"/>
                <a:ea typeface="Calibri"/>
                <a:cs typeface="Calibri"/>
                <a:sym typeface="Calibri"/>
              </a:rPr>
              <a:t>Negative impact on health</a:t>
            </a:r>
            <a:endParaRPr sz="1900"/>
          </a:p>
          <a:p>
            <a:pPr indent="-340232" lvl="0" marL="457200" rtl="0" algn="l">
              <a:lnSpc>
                <a:spcPct val="100000"/>
              </a:lnSpc>
              <a:spcBef>
                <a:spcPts val="0"/>
              </a:spcBef>
              <a:spcAft>
                <a:spcPts val="0"/>
              </a:spcAft>
              <a:buSzPct val="100000"/>
              <a:buChar char="•"/>
            </a:pPr>
            <a:r>
              <a:rPr lang="en-US" sz="1900">
                <a:latin typeface="Calibri"/>
                <a:ea typeface="Calibri"/>
                <a:cs typeface="Calibri"/>
                <a:sym typeface="Calibri"/>
              </a:rPr>
              <a:t>Lack of Creativity</a:t>
            </a:r>
            <a:endParaRPr b="0" i="0" sz="1900">
              <a:solidFill>
                <a:srgbClr val="030327"/>
              </a:solidFill>
              <a:latin typeface="Calibri"/>
              <a:ea typeface="Calibri"/>
              <a:cs typeface="Calibri"/>
              <a:sym typeface="Calibri"/>
            </a:endParaRPr>
          </a:p>
          <a:p>
            <a:pPr indent="-340232" lvl="0" marL="457200" rtl="0" algn="l">
              <a:lnSpc>
                <a:spcPct val="100000"/>
              </a:lnSpc>
              <a:spcBef>
                <a:spcPts val="0"/>
              </a:spcBef>
              <a:spcAft>
                <a:spcPts val="0"/>
              </a:spcAft>
              <a:buSzPct val="100000"/>
              <a:buChar char="•"/>
            </a:pPr>
            <a:r>
              <a:rPr lang="en-US" sz="1900">
                <a:solidFill>
                  <a:srgbClr val="030327"/>
                </a:solidFill>
                <a:latin typeface="Calibri"/>
                <a:ea typeface="Calibri"/>
                <a:cs typeface="Calibri"/>
                <a:sym typeface="Calibri"/>
              </a:rPr>
              <a:t>Cost to innovation</a:t>
            </a:r>
            <a:endParaRPr sz="1900">
              <a:solidFill>
                <a:srgbClr val="030327"/>
              </a:solidFill>
              <a:latin typeface="Calibri"/>
              <a:ea typeface="Calibri"/>
              <a:cs typeface="Calibri"/>
              <a:sym typeface="Calibri"/>
            </a:endParaRPr>
          </a:p>
          <a:p>
            <a:pPr indent="-340232" lvl="0" marL="457200" rtl="0" algn="l">
              <a:lnSpc>
                <a:spcPct val="100000"/>
              </a:lnSpc>
              <a:spcBef>
                <a:spcPts val="0"/>
              </a:spcBef>
              <a:spcAft>
                <a:spcPts val="0"/>
              </a:spcAft>
              <a:buClr>
                <a:srgbClr val="030327"/>
              </a:buClr>
              <a:buSzPct val="100000"/>
              <a:buChar char="•"/>
            </a:pPr>
            <a:r>
              <a:rPr lang="en-US" sz="1900">
                <a:solidFill>
                  <a:srgbClr val="030327"/>
                </a:solidFill>
              </a:rPr>
              <a:t>Unemployment</a:t>
            </a:r>
            <a:endParaRPr sz="1900">
              <a:solidFill>
                <a:srgbClr val="030327"/>
              </a:solidFill>
            </a:endParaRPr>
          </a:p>
          <a:p>
            <a:pPr indent="-340232" lvl="0" marL="457200" rtl="0" algn="l">
              <a:lnSpc>
                <a:spcPct val="100000"/>
              </a:lnSpc>
              <a:spcBef>
                <a:spcPts val="0"/>
              </a:spcBef>
              <a:spcAft>
                <a:spcPts val="0"/>
              </a:spcAft>
              <a:buSzPct val="100000"/>
              <a:buChar char="•"/>
            </a:pPr>
            <a:r>
              <a:rPr lang="en-US" sz="1900">
                <a:solidFill>
                  <a:srgbClr val="030327"/>
                </a:solidFill>
                <a:latin typeface="Calibri"/>
                <a:ea typeface="Calibri"/>
                <a:cs typeface="Calibri"/>
                <a:sym typeface="Calibri"/>
              </a:rPr>
              <a:t>Violation of human rights</a:t>
            </a:r>
            <a:endParaRPr sz="1900"/>
          </a:p>
          <a:p>
            <a:pPr indent="-340232" lvl="0" marL="457200" rtl="0" algn="l">
              <a:lnSpc>
                <a:spcPct val="100000"/>
              </a:lnSpc>
              <a:spcBef>
                <a:spcPts val="0"/>
              </a:spcBef>
              <a:spcAft>
                <a:spcPts val="0"/>
              </a:spcAft>
              <a:buSzPct val="100000"/>
              <a:buChar char="•"/>
            </a:pPr>
            <a:r>
              <a:rPr lang="en-US" sz="1900">
                <a:solidFill>
                  <a:srgbClr val="030327"/>
                </a:solidFill>
                <a:latin typeface="Calibri"/>
                <a:ea typeface="Calibri"/>
                <a:cs typeface="Calibri"/>
                <a:sym typeface="Calibri"/>
              </a:rPr>
              <a:t>Loss of human decision-making</a:t>
            </a:r>
            <a:endParaRPr sz="1900">
              <a:latin typeface="Calibri"/>
              <a:ea typeface="Calibri"/>
              <a:cs typeface="Calibri"/>
              <a:sym typeface="Calibri"/>
            </a:endParaRPr>
          </a:p>
          <a:p>
            <a:pPr indent="-228600" lvl="0" marL="457200" rtl="0" algn="l">
              <a:lnSpc>
                <a:spcPct val="100000"/>
              </a:lnSpc>
              <a:spcBef>
                <a:spcPts val="0"/>
              </a:spcBef>
              <a:spcAft>
                <a:spcPts val="0"/>
              </a:spcAft>
              <a:buSzPct val="100000"/>
              <a:buNone/>
            </a:pPr>
            <a:r>
              <a:t/>
            </a:r>
            <a:endParaRPr sz="1800">
              <a:latin typeface="Calibri"/>
              <a:ea typeface="Calibri"/>
              <a:cs typeface="Calibri"/>
              <a:sym typeface="Calibri"/>
            </a:endParaRPr>
          </a:p>
          <a:p>
            <a:pPr indent="-228600" lvl="0" marL="457200" rtl="0" algn="l">
              <a:lnSpc>
                <a:spcPct val="100000"/>
              </a:lnSpc>
              <a:spcBef>
                <a:spcPts val="0"/>
              </a:spcBef>
              <a:spcAft>
                <a:spcPts val="0"/>
              </a:spcAft>
              <a:buSzPct val="100000"/>
              <a:buNone/>
            </a:pPr>
            <a:r>
              <a:t/>
            </a:r>
            <a:endParaRPr sz="1800">
              <a:latin typeface="Calibri"/>
              <a:ea typeface="Calibri"/>
              <a:cs typeface="Calibri"/>
              <a:sym typeface="Calibri"/>
            </a:endParaRPr>
          </a:p>
          <a:p>
            <a:pPr indent="-228600" lvl="0" marL="457200" rtl="0" algn="l">
              <a:lnSpc>
                <a:spcPct val="100000"/>
              </a:lnSpc>
              <a:spcBef>
                <a:spcPts val="0"/>
              </a:spcBef>
              <a:spcAft>
                <a:spcPts val="0"/>
              </a:spcAft>
              <a:buSzPct val="100000"/>
              <a:buNone/>
            </a:pPr>
            <a:r>
              <a:t/>
            </a:r>
            <a:endParaRPr sz="1800">
              <a:latin typeface="Calibri"/>
              <a:ea typeface="Calibri"/>
              <a:cs typeface="Calibri"/>
              <a:sym typeface="Calibri"/>
            </a:endParaRPr>
          </a:p>
          <a:p>
            <a:pPr indent="-228600" lvl="0" marL="457200" rtl="0" algn="l">
              <a:lnSpc>
                <a:spcPct val="100000"/>
              </a:lnSpc>
              <a:spcBef>
                <a:spcPts val="0"/>
              </a:spcBef>
              <a:spcAft>
                <a:spcPts val="0"/>
              </a:spcAft>
              <a:buSzPct val="100000"/>
              <a:buNone/>
            </a:pPr>
            <a:r>
              <a:t/>
            </a:r>
            <a:endParaRPr sz="1800">
              <a:latin typeface="Calibri"/>
              <a:ea typeface="Calibri"/>
              <a:cs typeface="Calibri"/>
              <a:sym typeface="Calibri"/>
            </a:endParaRPr>
          </a:p>
        </p:txBody>
      </p:sp>
      <p:sp>
        <p:nvSpPr>
          <p:cNvPr id="67" name="Google Shape;67;p23"/>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19f85fd9a62_0_7"/>
          <p:cNvSpPr txBox="1"/>
          <p:nvPr>
            <p:ph type="title"/>
          </p:nvPr>
        </p:nvSpPr>
        <p:spPr>
          <a:xfrm>
            <a:off x="457200" y="133350"/>
            <a:ext cx="57150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sz="2800"/>
              <a:t>AI And Ethical Concerns</a:t>
            </a:r>
            <a:endParaRPr sz="2800"/>
          </a:p>
        </p:txBody>
      </p:sp>
      <p:sp>
        <p:nvSpPr>
          <p:cNvPr id="73" name="Google Shape;73;g19f85fd9a62_0_7"/>
          <p:cNvSpPr txBox="1"/>
          <p:nvPr>
            <p:ph idx="1" type="body"/>
          </p:nvPr>
        </p:nvSpPr>
        <p:spPr>
          <a:xfrm>
            <a:off x="304800" y="874514"/>
            <a:ext cx="85344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t/>
            </a:r>
            <a:endParaRPr sz="1900"/>
          </a:p>
          <a:p>
            <a:pPr indent="-349250" lvl="0" marL="457200" rtl="0" algn="l">
              <a:lnSpc>
                <a:spcPct val="100000"/>
              </a:lnSpc>
              <a:spcBef>
                <a:spcPts val="0"/>
              </a:spcBef>
              <a:spcAft>
                <a:spcPts val="0"/>
              </a:spcAft>
              <a:buSzPts val="1900"/>
              <a:buChar char="•"/>
            </a:pPr>
            <a:r>
              <a:rPr lang="en-US" sz="1900"/>
              <a:t>Data Privacy                </a:t>
            </a:r>
            <a:endParaRPr sz="1900"/>
          </a:p>
          <a:p>
            <a:pPr indent="-349250" lvl="0" marL="457200" rtl="0" algn="l">
              <a:lnSpc>
                <a:spcPct val="100000"/>
              </a:lnSpc>
              <a:spcBef>
                <a:spcPts val="0"/>
              </a:spcBef>
              <a:spcAft>
                <a:spcPts val="0"/>
              </a:spcAft>
              <a:buSzPts val="1900"/>
              <a:buChar char="•"/>
            </a:pPr>
            <a:r>
              <a:rPr lang="en-US" sz="1900"/>
              <a:t>Security</a:t>
            </a:r>
            <a:endParaRPr sz="1900"/>
          </a:p>
          <a:p>
            <a:pPr indent="-349250" lvl="0" marL="457200" rtl="0" algn="l">
              <a:lnSpc>
                <a:spcPct val="100000"/>
              </a:lnSpc>
              <a:spcBef>
                <a:spcPts val="0"/>
              </a:spcBef>
              <a:spcAft>
                <a:spcPts val="0"/>
              </a:spcAft>
              <a:buSzPts val="1900"/>
              <a:buChar char="•"/>
            </a:pPr>
            <a:r>
              <a:rPr lang="en-US" sz="1900"/>
              <a:t>Liability</a:t>
            </a:r>
            <a:endParaRPr sz="1900"/>
          </a:p>
          <a:p>
            <a:pPr indent="-349250" lvl="0" marL="457200" rtl="0" algn="l">
              <a:lnSpc>
                <a:spcPct val="100000"/>
              </a:lnSpc>
              <a:spcBef>
                <a:spcPts val="0"/>
              </a:spcBef>
              <a:spcAft>
                <a:spcPts val="0"/>
              </a:spcAft>
              <a:buSzPts val="1900"/>
              <a:buChar char="•"/>
            </a:pPr>
            <a:r>
              <a:rPr lang="en-US" sz="1900"/>
              <a:t>Bias &amp; Discrimination</a:t>
            </a:r>
            <a:endParaRPr sz="1900"/>
          </a:p>
          <a:p>
            <a:pPr indent="-349250" lvl="0" marL="457200" rtl="0" algn="l">
              <a:lnSpc>
                <a:spcPct val="100000"/>
              </a:lnSpc>
              <a:spcBef>
                <a:spcPts val="0"/>
              </a:spcBef>
              <a:spcAft>
                <a:spcPts val="0"/>
              </a:spcAft>
              <a:buSzPts val="1900"/>
              <a:buChar char="•"/>
            </a:pPr>
            <a:r>
              <a:rPr lang="en-US" sz="1900"/>
              <a:t>Inequality</a:t>
            </a:r>
            <a:endParaRPr sz="1900"/>
          </a:p>
          <a:p>
            <a:pPr indent="-349250" lvl="0" marL="457200" rtl="0" algn="l">
              <a:lnSpc>
                <a:spcPct val="100000"/>
              </a:lnSpc>
              <a:spcBef>
                <a:spcPts val="0"/>
              </a:spcBef>
              <a:spcAft>
                <a:spcPts val="0"/>
              </a:spcAft>
              <a:buSzPts val="1900"/>
              <a:buChar char="•"/>
            </a:pPr>
            <a:r>
              <a:rPr lang="en-US" sz="1900"/>
              <a:t>Accountability &amp; Transparency</a:t>
            </a:r>
            <a:endParaRPr sz="1900"/>
          </a:p>
          <a:p>
            <a:pPr indent="-349250" lvl="0" marL="457200" rtl="0" algn="l">
              <a:lnSpc>
                <a:spcPct val="100000"/>
              </a:lnSpc>
              <a:spcBef>
                <a:spcPts val="0"/>
              </a:spcBef>
              <a:spcAft>
                <a:spcPts val="0"/>
              </a:spcAft>
              <a:buSzPts val="1900"/>
              <a:buChar char="•"/>
            </a:pPr>
            <a:r>
              <a:rPr lang="en-US" sz="1900"/>
              <a:t>Potential for Military use</a:t>
            </a:r>
            <a:endParaRPr sz="1900"/>
          </a:p>
          <a:p>
            <a:pPr indent="-349250" lvl="0" marL="457200" rtl="0" algn="l">
              <a:lnSpc>
                <a:spcPct val="100000"/>
              </a:lnSpc>
              <a:spcBef>
                <a:spcPts val="0"/>
              </a:spcBef>
              <a:spcAft>
                <a:spcPts val="0"/>
              </a:spcAft>
              <a:buSzPts val="1900"/>
              <a:buChar char="•"/>
            </a:pPr>
            <a:r>
              <a:rPr lang="en-US" sz="1900"/>
              <a:t>Potential for criminal and malicious use</a:t>
            </a:r>
            <a:endParaRPr sz="1900"/>
          </a:p>
          <a:p>
            <a:pPr indent="-228600" lvl="0" marL="457200" rtl="0" algn="l">
              <a:lnSpc>
                <a:spcPct val="100000"/>
              </a:lnSpc>
              <a:spcBef>
                <a:spcPts val="0"/>
              </a:spcBef>
              <a:spcAft>
                <a:spcPts val="0"/>
              </a:spcAft>
              <a:buSzPts val="1800"/>
              <a:buNone/>
            </a:pPr>
            <a:r>
              <a:t/>
            </a:r>
            <a:endParaRPr sz="1600"/>
          </a:p>
          <a:p>
            <a:pPr indent="0" lvl="0" marL="0" rtl="0" algn="l">
              <a:lnSpc>
                <a:spcPct val="100000"/>
              </a:lnSpc>
              <a:spcBef>
                <a:spcPts val="1176"/>
              </a:spcBef>
              <a:spcAft>
                <a:spcPts val="0"/>
              </a:spcAft>
              <a:buSzPts val="1800"/>
              <a:buNone/>
            </a:pPr>
            <a:r>
              <a:t/>
            </a:r>
            <a:endParaRPr sz="1600"/>
          </a:p>
        </p:txBody>
      </p:sp>
      <p:sp>
        <p:nvSpPr>
          <p:cNvPr id="74" name="Google Shape;74;g19f85fd9a62_0_7"/>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1e01ef69504_0_0"/>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lang="en-US"/>
              <a:t>Data Privacy &amp; Security</a:t>
            </a:r>
            <a:endParaRPr/>
          </a:p>
        </p:txBody>
      </p:sp>
      <p:sp>
        <p:nvSpPr>
          <p:cNvPr id="81" name="Google Shape;81;g1e01ef69504_0_0"/>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n-US" sz="1800"/>
              <a:t>AI systems can be used to monitor people’s activities and behaviors. Hence it can collect and analyse large amount of data. This can lead to loss of privacy and can be used to target people for specific advertisement  or to make decisions about their lives. </a:t>
            </a:r>
            <a:endParaRPr sz="1800"/>
          </a:p>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SzPts val="1800"/>
              <a:buNone/>
            </a:pPr>
            <a:r>
              <a:rPr lang="en-US" sz="1800"/>
              <a:t>It is important to ensure that this data is kept secure and is not used for any malicious purposes. We also should ensure that these systems are used responsibly and ethically by implementing secure design principles for AI systems. And it is important to continuously monitor and audit AI systems.</a:t>
            </a:r>
            <a:endParaRPr sz="1800"/>
          </a:p>
        </p:txBody>
      </p:sp>
      <p:sp>
        <p:nvSpPr>
          <p:cNvPr id="82" name="Google Shape;82;g1e01ef69504_0_0"/>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1e01ef69504_0_21"/>
          <p:cNvSpPr txBox="1"/>
          <p:nvPr>
            <p:ph type="title"/>
          </p:nvPr>
        </p:nvSpPr>
        <p:spPr>
          <a:xfrm>
            <a:off x="457200" y="133350"/>
            <a:ext cx="61890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lang="en-US"/>
              <a:t>Accountability &amp; Transparency </a:t>
            </a:r>
            <a:endParaRPr/>
          </a:p>
        </p:txBody>
      </p:sp>
      <p:sp>
        <p:nvSpPr>
          <p:cNvPr id="89" name="Google Shape;89;g1e01ef69504_0_21"/>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n-US" sz="1800"/>
              <a:t>AI Systems are often used to make decisions that can have significant impact on people’s lives. Hence these decisions should be in a transparent and accountable manner. If not then it leads to unfair outcomes for some people.</a:t>
            </a:r>
            <a:endParaRPr sz="1800"/>
          </a:p>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SzPts val="1800"/>
              <a:buNone/>
            </a:pPr>
            <a:r>
              <a:rPr lang="en-US" sz="1800"/>
              <a:t>Building AI Systems with transparency and explainability will ensure accountability and mitigates the security issues.</a:t>
            </a:r>
            <a:endParaRPr sz="1800"/>
          </a:p>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SzPts val="1800"/>
              <a:buNone/>
            </a:pPr>
            <a:r>
              <a:t/>
            </a:r>
            <a:endParaRPr sz="1800"/>
          </a:p>
        </p:txBody>
      </p:sp>
      <p:sp>
        <p:nvSpPr>
          <p:cNvPr id="90" name="Google Shape;90;g1e01ef69504_0_21"/>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1e01ef69504_0_28"/>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lang="en-US"/>
              <a:t>Bias &amp; Discrimination</a:t>
            </a:r>
            <a:endParaRPr/>
          </a:p>
        </p:txBody>
      </p:sp>
      <p:sp>
        <p:nvSpPr>
          <p:cNvPr id="97" name="Google Shape;97;g1e01ef69504_0_28"/>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00000"/>
              </a:lnSpc>
              <a:spcBef>
                <a:spcPts val="360"/>
              </a:spcBef>
              <a:spcAft>
                <a:spcPts val="0"/>
              </a:spcAft>
              <a:buSzPts val="1800"/>
              <a:buNone/>
            </a:pPr>
            <a:r>
              <a:t/>
            </a:r>
            <a:endParaRPr sz="1800">
              <a:solidFill>
                <a:srgbClr val="333333"/>
              </a:solidFill>
              <a:highlight>
                <a:srgbClr val="FFFFFF"/>
              </a:highlight>
            </a:endParaRPr>
          </a:p>
          <a:p>
            <a:pPr indent="0" lvl="0" marL="0" rtl="0" algn="l">
              <a:lnSpc>
                <a:spcPct val="100000"/>
              </a:lnSpc>
              <a:spcBef>
                <a:spcPts val="360"/>
              </a:spcBef>
              <a:spcAft>
                <a:spcPts val="0"/>
              </a:spcAft>
              <a:buSzPts val="1800"/>
              <a:buNone/>
            </a:pPr>
            <a:r>
              <a:rPr lang="en-US" sz="1800">
                <a:solidFill>
                  <a:srgbClr val="333333"/>
                </a:solidFill>
                <a:highlight>
                  <a:srgbClr val="FFFFFF"/>
                </a:highlight>
              </a:rPr>
              <a:t>Biased data can lead to unfair treatment of certain individuals or groups and can exacerbate existing social inequalities.  Bias in AI systems can be caused either by the way data is collected or the way algorithm is designed.</a:t>
            </a:r>
            <a:endParaRPr sz="1800">
              <a:solidFill>
                <a:srgbClr val="333333"/>
              </a:solidFill>
              <a:highlight>
                <a:srgbClr val="FFFFFF"/>
              </a:highlight>
            </a:endParaRPr>
          </a:p>
          <a:p>
            <a:pPr indent="0" lvl="0" marL="0" rtl="0" algn="l">
              <a:lnSpc>
                <a:spcPct val="100000"/>
              </a:lnSpc>
              <a:spcBef>
                <a:spcPts val="360"/>
              </a:spcBef>
              <a:spcAft>
                <a:spcPts val="0"/>
              </a:spcAft>
              <a:buSzPts val="1800"/>
              <a:buNone/>
            </a:pPr>
            <a:r>
              <a:t/>
            </a:r>
            <a:endParaRPr sz="1800">
              <a:solidFill>
                <a:srgbClr val="333333"/>
              </a:solidFill>
              <a:highlight>
                <a:srgbClr val="FFFFFF"/>
              </a:highlight>
            </a:endParaRPr>
          </a:p>
          <a:p>
            <a:pPr indent="0" lvl="0" marL="0" rtl="0" algn="l">
              <a:lnSpc>
                <a:spcPct val="100000"/>
              </a:lnSpc>
              <a:spcBef>
                <a:spcPts val="360"/>
              </a:spcBef>
              <a:spcAft>
                <a:spcPts val="0"/>
              </a:spcAft>
              <a:buSzPts val="1800"/>
              <a:buNone/>
            </a:pPr>
            <a:r>
              <a:rPr lang="en-US" sz="1800">
                <a:solidFill>
                  <a:srgbClr val="333333"/>
                </a:solidFill>
                <a:highlight>
                  <a:srgbClr val="FFFFFF"/>
                </a:highlight>
              </a:rPr>
              <a:t>For eg., AI system trained on data belonging to a particular demographic cannot make accurate predictions for other demographic.</a:t>
            </a:r>
            <a:endParaRPr sz="1800">
              <a:solidFill>
                <a:srgbClr val="333333"/>
              </a:solidFill>
              <a:highlight>
                <a:srgbClr val="FFFFFF"/>
              </a:highlight>
            </a:endParaRPr>
          </a:p>
          <a:p>
            <a:pPr indent="0" lvl="0" marL="0" rtl="0" algn="l">
              <a:lnSpc>
                <a:spcPct val="100000"/>
              </a:lnSpc>
              <a:spcBef>
                <a:spcPts val="360"/>
              </a:spcBef>
              <a:spcAft>
                <a:spcPts val="0"/>
              </a:spcAft>
              <a:buSzPts val="1800"/>
              <a:buNone/>
            </a:pPr>
            <a:r>
              <a:t/>
            </a:r>
            <a:endParaRPr sz="1800">
              <a:solidFill>
                <a:srgbClr val="333333"/>
              </a:solidFill>
              <a:highlight>
                <a:srgbClr val="FFFFFF"/>
              </a:highlight>
            </a:endParaRPr>
          </a:p>
          <a:p>
            <a:pPr indent="0" lvl="0" marL="0" rtl="0" algn="l">
              <a:lnSpc>
                <a:spcPct val="100000"/>
              </a:lnSpc>
              <a:spcBef>
                <a:spcPts val="360"/>
              </a:spcBef>
              <a:spcAft>
                <a:spcPts val="0"/>
              </a:spcAft>
              <a:buSzPts val="1800"/>
              <a:buNone/>
            </a:pPr>
            <a:r>
              <a:t/>
            </a:r>
            <a:endParaRPr sz="1800">
              <a:solidFill>
                <a:srgbClr val="333333"/>
              </a:solidFill>
              <a:highlight>
                <a:srgbClr val="FFFFFF"/>
              </a:highlight>
            </a:endParaRPr>
          </a:p>
          <a:p>
            <a:pPr indent="0" lvl="0" marL="0" rtl="0" algn="l">
              <a:lnSpc>
                <a:spcPct val="100000"/>
              </a:lnSpc>
              <a:spcBef>
                <a:spcPts val="360"/>
              </a:spcBef>
              <a:spcAft>
                <a:spcPts val="0"/>
              </a:spcAft>
              <a:buSzPts val="1800"/>
              <a:buNone/>
            </a:pPr>
            <a:r>
              <a:t/>
            </a:r>
            <a:endParaRPr sz="1800">
              <a:solidFill>
                <a:srgbClr val="333333"/>
              </a:solidFill>
              <a:highlight>
                <a:srgbClr val="FFFFFF"/>
              </a:highlight>
            </a:endParaRPr>
          </a:p>
          <a:p>
            <a:pPr indent="0" lvl="0" marL="0" rtl="0" algn="l">
              <a:lnSpc>
                <a:spcPct val="100000"/>
              </a:lnSpc>
              <a:spcBef>
                <a:spcPts val="360"/>
              </a:spcBef>
              <a:spcAft>
                <a:spcPts val="0"/>
              </a:spcAft>
              <a:buSzPts val="1800"/>
              <a:buNone/>
            </a:pPr>
            <a:r>
              <a:t/>
            </a:r>
            <a:endParaRPr sz="1800">
              <a:solidFill>
                <a:srgbClr val="333333"/>
              </a:solidFill>
              <a:highlight>
                <a:srgbClr val="FFFFFF"/>
              </a:highlight>
            </a:endParaRPr>
          </a:p>
          <a:p>
            <a:pPr indent="0" lvl="0" marL="0" rtl="0" algn="l">
              <a:lnSpc>
                <a:spcPct val="100000"/>
              </a:lnSpc>
              <a:spcBef>
                <a:spcPts val="360"/>
              </a:spcBef>
              <a:spcAft>
                <a:spcPts val="0"/>
              </a:spcAft>
              <a:buSzPts val="1800"/>
              <a:buNone/>
            </a:pPr>
            <a:r>
              <a:t/>
            </a:r>
            <a:endParaRPr sz="1800">
              <a:solidFill>
                <a:srgbClr val="333333"/>
              </a:solidFill>
              <a:highlight>
                <a:srgbClr val="FFFFFF"/>
              </a:highlight>
            </a:endParaRPr>
          </a:p>
          <a:p>
            <a:pPr indent="0" lvl="0" marL="0" rtl="0" algn="l">
              <a:lnSpc>
                <a:spcPct val="100000"/>
              </a:lnSpc>
              <a:spcBef>
                <a:spcPts val="360"/>
              </a:spcBef>
              <a:spcAft>
                <a:spcPts val="0"/>
              </a:spcAft>
              <a:buSzPts val="1800"/>
              <a:buNone/>
            </a:pPr>
            <a:r>
              <a:t/>
            </a:r>
            <a:endParaRPr sz="1800">
              <a:solidFill>
                <a:srgbClr val="333333"/>
              </a:solidFill>
              <a:highlight>
                <a:srgbClr val="FFFFFF"/>
              </a:highlight>
            </a:endParaRPr>
          </a:p>
        </p:txBody>
      </p:sp>
      <p:sp>
        <p:nvSpPr>
          <p:cNvPr id="98" name="Google Shape;98;g1e01ef69504_0_28"/>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1e01ef69504_0_104"/>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lang="en-US"/>
              <a:t>Liability</a:t>
            </a:r>
            <a:endParaRPr/>
          </a:p>
        </p:txBody>
      </p:sp>
      <p:sp>
        <p:nvSpPr>
          <p:cNvPr id="105" name="Google Shape;105;g1e01ef69504_0_104"/>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n-US" sz="1800"/>
              <a:t>Machines learn from experience and it takes decision without human control. when things go wrong, there are no current legal regimes that could provide protection for the victims.</a:t>
            </a:r>
            <a:endParaRPr sz="1800"/>
          </a:p>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SzPts val="1800"/>
              <a:buNone/>
            </a:pPr>
            <a:r>
              <a:rPr lang="en-US" sz="1800"/>
              <a:t>A big question arises that “Who is liable when an AI system makes mistakes or causes harm?”</a:t>
            </a:r>
            <a:endParaRPr sz="1800"/>
          </a:p>
        </p:txBody>
      </p:sp>
      <p:sp>
        <p:nvSpPr>
          <p:cNvPr id="106" name="Google Shape;106;g1e01ef69504_0_104"/>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1e01ef69504_0_97"/>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lang="en-US"/>
              <a:t>Potential for Military use </a:t>
            </a:r>
            <a:endParaRPr/>
          </a:p>
        </p:txBody>
      </p:sp>
      <p:sp>
        <p:nvSpPr>
          <p:cNvPr id="113" name="Google Shape;113;g1e01ef69504_0_97"/>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n-US" sz="1800"/>
              <a:t>There are certain risk associated with incorporation of AI in Military operations. AI could be used to create autonomous weapons that could threaten the existence of humanity. </a:t>
            </a:r>
            <a:endParaRPr sz="1800"/>
          </a:p>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SzPts val="1800"/>
              <a:buNone/>
            </a:pPr>
            <a:r>
              <a:rPr lang="en-US" sz="1800"/>
              <a:t>It has potential to revolutionize warfare but it could become more dangerous tool too.</a:t>
            </a:r>
            <a:endParaRPr sz="1800"/>
          </a:p>
        </p:txBody>
      </p:sp>
      <p:sp>
        <p:nvSpPr>
          <p:cNvPr id="114" name="Google Shape;114;g1e01ef69504_0_97"/>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1e01ef69504_0_111"/>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lang="en-US"/>
              <a:t>Abuse/Malicious uses</a:t>
            </a:r>
            <a:endParaRPr/>
          </a:p>
        </p:txBody>
      </p:sp>
      <p:sp>
        <p:nvSpPr>
          <p:cNvPr id="121" name="Google Shape;121;g1e01ef69504_0_111"/>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n-US" sz="1800"/>
              <a:t>Cyber criminals use AI to automate content generation for phishing and email compromise scam that could lead more accurate defrauding of businesses.</a:t>
            </a:r>
            <a:endParaRPr sz="1800"/>
          </a:p>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SzPts val="1800"/>
              <a:buNone/>
            </a:pPr>
            <a:r>
              <a:rPr lang="en-US" sz="1800"/>
              <a:t>AI is also abused to manipulate cryptocurrency trading practise.</a:t>
            </a:r>
            <a:endParaRPr sz="1800"/>
          </a:p>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SzPts val="1800"/>
              <a:buNone/>
            </a:pPr>
            <a:r>
              <a:rPr lang="en-US" sz="1800"/>
              <a:t>AI Facial Recognition drones are used for single-person bombing.</a:t>
            </a:r>
            <a:endParaRPr sz="1800"/>
          </a:p>
          <a:p>
            <a:pPr indent="0" lvl="0" marL="0" rtl="0" algn="l">
              <a:lnSpc>
                <a:spcPct val="100000"/>
              </a:lnSpc>
              <a:spcBef>
                <a:spcPts val="360"/>
              </a:spcBef>
              <a:spcAft>
                <a:spcPts val="0"/>
              </a:spcAft>
              <a:buSzPts val="1800"/>
              <a:buNone/>
            </a:pPr>
            <a:r>
              <a:t/>
            </a:r>
            <a:endParaRPr sz="1800"/>
          </a:p>
        </p:txBody>
      </p:sp>
      <p:sp>
        <p:nvSpPr>
          <p:cNvPr id="122" name="Google Shape;122;g1e01ef69504_0_111"/>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1eec5942916_0_7"/>
          <p:cNvSpPr txBox="1"/>
          <p:nvPr>
            <p:ph type="ctrTitle"/>
          </p:nvPr>
        </p:nvSpPr>
        <p:spPr>
          <a:xfrm>
            <a:off x="4572000" y="1080925"/>
            <a:ext cx="3886200" cy="1314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960"/>
              <a:buFont typeface="Calibri"/>
              <a:buNone/>
            </a:pPr>
            <a:r>
              <a:rPr b="1" lang="en-US" sz="4000"/>
              <a:t>AI And Bias</a:t>
            </a:r>
            <a:endParaRPr b="1" sz="4000"/>
          </a:p>
        </p:txBody>
      </p:sp>
      <p:sp>
        <p:nvSpPr>
          <p:cNvPr id="128" name="Google Shape;128;g1eec5942916_0_7"/>
          <p:cNvSpPr txBox="1"/>
          <p:nvPr>
            <p:ph idx="12" type="sldNum"/>
          </p:nvPr>
        </p:nvSpPr>
        <p:spPr>
          <a:xfrm>
            <a:off x="8458200" y="4888706"/>
            <a:ext cx="533400" cy="235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pic>
        <p:nvPicPr>
          <p:cNvPr descr="Image result for machine learning robot" id="129" name="Google Shape;129;g1eec5942916_0_7"/>
          <p:cNvPicPr preferRelativeResize="0"/>
          <p:nvPr/>
        </p:nvPicPr>
        <p:blipFill rotWithShape="1">
          <a:blip r:embed="rId3">
            <a:alphaModFix/>
          </a:blip>
          <a:srcRect b="0" l="0" r="0" t="0"/>
          <a:stretch/>
        </p:blipFill>
        <p:spPr>
          <a:xfrm>
            <a:off x="0" y="856000"/>
            <a:ext cx="4495800" cy="3371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1e01ef69504_0_52"/>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sz="2800"/>
              <a:t>AI Bias</a:t>
            </a:r>
            <a:endParaRPr sz="2800"/>
          </a:p>
        </p:txBody>
      </p:sp>
      <p:sp>
        <p:nvSpPr>
          <p:cNvPr id="135" name="Google Shape;135;g1e01ef69504_0_52"/>
          <p:cNvSpPr txBox="1"/>
          <p:nvPr>
            <p:ph idx="1" type="body"/>
          </p:nvPr>
        </p:nvSpPr>
        <p:spPr>
          <a:xfrm>
            <a:off x="457200" y="1200150"/>
            <a:ext cx="8133300" cy="3394500"/>
          </a:xfrm>
          <a:prstGeom prst="rect">
            <a:avLst/>
          </a:prstGeom>
          <a:noFill/>
          <a:ln>
            <a:noFill/>
          </a:ln>
        </p:spPr>
        <p:txBody>
          <a:bodyPr anchorCtr="0" anchor="t" bIns="45700" lIns="91425" spcFirstLastPara="1" rIns="91425" wrap="square" tIns="45700">
            <a:normAutofit lnSpcReduction="20000"/>
          </a:bodyPr>
          <a:lstStyle/>
          <a:p>
            <a:pPr indent="-342900" lvl="0" marL="457200" rtl="0" algn="l">
              <a:lnSpc>
                <a:spcPct val="100000"/>
              </a:lnSpc>
              <a:spcBef>
                <a:spcPts val="360"/>
              </a:spcBef>
              <a:spcAft>
                <a:spcPts val="0"/>
              </a:spcAft>
              <a:buClr>
                <a:schemeClr val="dk1"/>
              </a:buClr>
              <a:buSzPts val="1800"/>
              <a:buChar char="•"/>
            </a:pPr>
            <a:r>
              <a:rPr lang="en-US" sz="1800"/>
              <a:t>Bias is the inclusion of inaccurate or prejudicial information in data sets, algorithms, or models that results in spurious conclusions.</a:t>
            </a:r>
            <a:endParaRPr sz="1800"/>
          </a:p>
          <a:p>
            <a:pPr indent="0" lvl="0" marL="457200" rtl="0" algn="l">
              <a:lnSpc>
                <a:spcPct val="100000"/>
              </a:lnSpc>
              <a:spcBef>
                <a:spcPts val="360"/>
              </a:spcBef>
              <a:spcAft>
                <a:spcPts val="0"/>
              </a:spcAft>
              <a:buSzPts val="1800"/>
              <a:buNone/>
            </a:pPr>
            <a:r>
              <a:t/>
            </a:r>
            <a:endParaRPr sz="1800"/>
          </a:p>
          <a:p>
            <a:pPr indent="-342900" lvl="0" marL="457200" rtl="0" algn="l">
              <a:lnSpc>
                <a:spcPct val="100000"/>
              </a:lnSpc>
              <a:spcBef>
                <a:spcPts val="360"/>
              </a:spcBef>
              <a:spcAft>
                <a:spcPts val="0"/>
              </a:spcAft>
              <a:buClr>
                <a:schemeClr val="dk1"/>
              </a:buClr>
              <a:buSzPts val="1800"/>
              <a:buChar char="•"/>
            </a:pPr>
            <a:r>
              <a:rPr lang="en-US" sz="1800"/>
              <a:t>Though AI is build to make better decisions, it is often just as biased as the humans who create it.</a:t>
            </a:r>
            <a:endParaRPr sz="1800"/>
          </a:p>
          <a:p>
            <a:pPr indent="0" lvl="0" marL="457200" rtl="0" algn="l">
              <a:lnSpc>
                <a:spcPct val="100000"/>
              </a:lnSpc>
              <a:spcBef>
                <a:spcPts val="360"/>
              </a:spcBef>
              <a:spcAft>
                <a:spcPts val="0"/>
              </a:spcAft>
              <a:buSzPts val="1800"/>
              <a:buNone/>
            </a:pPr>
            <a:r>
              <a:t/>
            </a:r>
            <a:endParaRPr sz="1800"/>
          </a:p>
          <a:p>
            <a:pPr indent="-342900" lvl="0" marL="457200" rtl="0" algn="l">
              <a:lnSpc>
                <a:spcPct val="100000"/>
              </a:lnSpc>
              <a:spcBef>
                <a:spcPts val="360"/>
              </a:spcBef>
              <a:spcAft>
                <a:spcPts val="0"/>
              </a:spcAft>
              <a:buClr>
                <a:schemeClr val="dk1"/>
              </a:buClr>
              <a:buSzPts val="1800"/>
              <a:buChar char="•"/>
            </a:pPr>
            <a:r>
              <a:rPr lang="en-US" sz="1800"/>
              <a:t>Bias causes inaccurate predictions and faulty decision-making results in harmful consequences for individuals and society.</a:t>
            </a:r>
            <a:endParaRPr sz="1800"/>
          </a:p>
          <a:p>
            <a:pPr indent="0" lvl="0" marL="457200" rtl="0" algn="l">
              <a:lnSpc>
                <a:spcPct val="100000"/>
              </a:lnSpc>
              <a:spcBef>
                <a:spcPts val="360"/>
              </a:spcBef>
              <a:spcAft>
                <a:spcPts val="0"/>
              </a:spcAft>
              <a:buSzPts val="1800"/>
              <a:buNone/>
            </a:pPr>
            <a:r>
              <a:t/>
            </a:r>
            <a:endParaRPr sz="1800"/>
          </a:p>
          <a:p>
            <a:pPr indent="-342900" lvl="0" marL="457200" rtl="0" algn="l">
              <a:lnSpc>
                <a:spcPct val="100000"/>
              </a:lnSpc>
              <a:spcBef>
                <a:spcPts val="360"/>
              </a:spcBef>
              <a:spcAft>
                <a:spcPts val="0"/>
              </a:spcAft>
              <a:buSzPts val="1800"/>
              <a:buChar char="•"/>
            </a:pPr>
            <a:r>
              <a:rPr lang="en-US" sz="1800"/>
              <a:t>We could create algorithms that are designed to be fair and unbiased.</a:t>
            </a:r>
            <a:endParaRPr sz="1800"/>
          </a:p>
          <a:p>
            <a:pPr indent="-228600" lvl="0" marL="457200" rtl="0" algn="l">
              <a:lnSpc>
                <a:spcPct val="100000"/>
              </a:lnSpc>
              <a:spcBef>
                <a:spcPts val="360"/>
              </a:spcBef>
              <a:spcAft>
                <a:spcPts val="0"/>
              </a:spcAft>
              <a:buClr>
                <a:schemeClr val="dk1"/>
              </a:buClr>
              <a:buSzPts val="1800"/>
              <a:buNone/>
            </a:pPr>
            <a:r>
              <a:t/>
            </a:r>
            <a:endParaRPr sz="1800"/>
          </a:p>
          <a:p>
            <a:pPr indent="-228600" lvl="0" marL="457200" rtl="0" algn="l">
              <a:lnSpc>
                <a:spcPct val="100000"/>
              </a:lnSpc>
              <a:spcBef>
                <a:spcPts val="360"/>
              </a:spcBef>
              <a:spcAft>
                <a:spcPts val="0"/>
              </a:spcAft>
              <a:buClr>
                <a:schemeClr val="dk1"/>
              </a:buClr>
              <a:buSzPts val="1800"/>
              <a:buNone/>
            </a:pPr>
            <a:r>
              <a:t/>
            </a:r>
            <a:endParaRPr/>
          </a:p>
        </p:txBody>
      </p:sp>
      <p:sp>
        <p:nvSpPr>
          <p:cNvPr id="136" name="Google Shape;136;g1e01ef69504_0_52"/>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sz="2800"/>
              <a:t>AI and Bias</a:t>
            </a:r>
            <a:endParaRPr sz="2800"/>
          </a:p>
        </p:txBody>
      </p:sp>
      <p:sp>
        <p:nvSpPr>
          <p:cNvPr id="142" name="Google Shape;142;p2"/>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457200" rtl="0" algn="l">
              <a:lnSpc>
                <a:spcPct val="150000"/>
              </a:lnSpc>
              <a:spcBef>
                <a:spcPts val="360"/>
              </a:spcBef>
              <a:spcAft>
                <a:spcPts val="0"/>
              </a:spcAft>
              <a:buClr>
                <a:schemeClr val="dk1"/>
              </a:buClr>
              <a:buSzPts val="1800"/>
              <a:buChar char="•"/>
            </a:pPr>
            <a:r>
              <a:rPr lang="en-US" sz="1800"/>
              <a:t>Gender Bias </a:t>
            </a:r>
            <a:endParaRPr sz="1800"/>
          </a:p>
          <a:p>
            <a:pPr indent="-342900" lvl="0" marL="457200" rtl="0" algn="l">
              <a:lnSpc>
                <a:spcPct val="150000"/>
              </a:lnSpc>
              <a:spcBef>
                <a:spcPts val="360"/>
              </a:spcBef>
              <a:spcAft>
                <a:spcPts val="0"/>
              </a:spcAft>
              <a:buClr>
                <a:schemeClr val="dk1"/>
              </a:buClr>
              <a:buSzPts val="1800"/>
              <a:buChar char="•"/>
            </a:pPr>
            <a:r>
              <a:rPr lang="en-US" sz="1800"/>
              <a:t>Social Bias</a:t>
            </a:r>
            <a:endParaRPr sz="1800"/>
          </a:p>
          <a:p>
            <a:pPr indent="-342900" lvl="0" marL="457200" rtl="0" algn="l">
              <a:lnSpc>
                <a:spcPct val="150000"/>
              </a:lnSpc>
              <a:spcBef>
                <a:spcPts val="360"/>
              </a:spcBef>
              <a:spcAft>
                <a:spcPts val="0"/>
              </a:spcAft>
              <a:buClr>
                <a:schemeClr val="dk1"/>
              </a:buClr>
              <a:buSzPts val="1800"/>
              <a:buChar char="•"/>
            </a:pPr>
            <a:r>
              <a:rPr lang="en-US" sz="1800"/>
              <a:t>Racial Bias </a:t>
            </a:r>
            <a:endParaRPr sz="1800"/>
          </a:p>
          <a:p>
            <a:pPr indent="-342900" lvl="0" marL="457200" rtl="0" algn="l">
              <a:lnSpc>
                <a:spcPct val="150000"/>
              </a:lnSpc>
              <a:spcBef>
                <a:spcPts val="360"/>
              </a:spcBef>
              <a:spcAft>
                <a:spcPts val="0"/>
              </a:spcAft>
              <a:buClr>
                <a:schemeClr val="dk1"/>
              </a:buClr>
              <a:buSzPts val="1800"/>
              <a:buChar char="•"/>
            </a:pPr>
            <a:r>
              <a:rPr lang="en-US" sz="1800"/>
              <a:t>Algorithm Bias </a:t>
            </a:r>
            <a:endParaRPr/>
          </a:p>
        </p:txBody>
      </p:sp>
      <p:sp>
        <p:nvSpPr>
          <p:cNvPr id="143" name="Google Shape;143;p2"/>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1e01ef69504_0_59"/>
          <p:cNvSpPr txBox="1"/>
          <p:nvPr>
            <p:ph type="title"/>
          </p:nvPr>
        </p:nvSpPr>
        <p:spPr>
          <a:xfrm>
            <a:off x="457200" y="133350"/>
            <a:ext cx="69000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360"/>
              </a:spcBef>
              <a:spcAft>
                <a:spcPts val="0"/>
              </a:spcAft>
              <a:buSzPts val="3200"/>
              <a:buNone/>
            </a:pPr>
            <a:r>
              <a:rPr lang="en-US" sz="2800"/>
              <a:t>  Gender Bias - Amazon Hiring Algorithm</a:t>
            </a:r>
            <a:endParaRPr sz="4200"/>
          </a:p>
        </p:txBody>
      </p:sp>
      <p:sp>
        <p:nvSpPr>
          <p:cNvPr id="150" name="Google Shape;150;g1e01ef69504_0_59"/>
          <p:cNvSpPr txBox="1"/>
          <p:nvPr>
            <p:ph idx="1" type="body"/>
          </p:nvPr>
        </p:nvSpPr>
        <p:spPr>
          <a:xfrm>
            <a:off x="457200" y="1200150"/>
            <a:ext cx="82443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Clr>
                <a:schemeClr val="dk1"/>
              </a:buClr>
              <a:buSzPts val="1100"/>
              <a:buFont typeface="Arial"/>
              <a:buNone/>
            </a:pPr>
            <a:r>
              <a:rPr lang="en-US" sz="1800"/>
              <a:t>Amazon used CVs which it had over 10-year period to train its AI algorithm and found that there was male dominance, given low proportion of women working in the company.</a:t>
            </a:r>
            <a:endParaRPr/>
          </a:p>
        </p:txBody>
      </p:sp>
      <p:sp>
        <p:nvSpPr>
          <p:cNvPr id="151" name="Google Shape;151;g1e01ef69504_0_59"/>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pic>
        <p:nvPicPr>
          <p:cNvPr descr="See the source image" id="152" name="Google Shape;152;g1e01ef69504_0_59"/>
          <p:cNvPicPr preferRelativeResize="0"/>
          <p:nvPr/>
        </p:nvPicPr>
        <p:blipFill rotWithShape="1">
          <a:blip r:embed="rId3">
            <a:alphaModFix/>
          </a:blip>
          <a:srcRect b="0" l="0" r="0" t="0"/>
          <a:stretch/>
        </p:blipFill>
        <p:spPr>
          <a:xfrm>
            <a:off x="2729190" y="2519093"/>
            <a:ext cx="2896360" cy="193051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1e01ef69504_0_66"/>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3200"/>
              <a:buNone/>
            </a:pPr>
            <a:r>
              <a:rPr lang="en-US"/>
              <a:t> Social Bias - COMPAS</a:t>
            </a:r>
            <a:endParaRPr/>
          </a:p>
        </p:txBody>
      </p:sp>
      <p:sp>
        <p:nvSpPr>
          <p:cNvPr id="159" name="Google Shape;159;g1e01ef69504_0_66"/>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n-US" sz="1800">
                <a:solidFill>
                  <a:srgbClr val="273239"/>
                </a:solidFill>
                <a:highlight>
                  <a:srgbClr val="FFFFFF"/>
                </a:highlight>
              </a:rPr>
              <a:t>                  Correctional Offender Management Profiling for Alternative Sanctions AI in USA was used to predict which criminals are more likely to re-offend in the future. Based on the forecast, judges make decisions for jail sentence or bail or release. The impact of COMPAS was, black criminals were judged to be much more likely to recommit crimes in the future whereas white criminals were judged to be less risky.</a:t>
            </a:r>
            <a:endParaRPr sz="3700"/>
          </a:p>
        </p:txBody>
      </p:sp>
      <p:sp>
        <p:nvSpPr>
          <p:cNvPr id="160" name="Google Shape;160;g1e01ef69504_0_66"/>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1e01ef69504_0_77"/>
          <p:cNvSpPr txBox="1"/>
          <p:nvPr>
            <p:ph type="title"/>
          </p:nvPr>
        </p:nvSpPr>
        <p:spPr>
          <a:xfrm>
            <a:off x="457200" y="133350"/>
            <a:ext cx="61668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360"/>
              </a:spcBef>
              <a:spcAft>
                <a:spcPts val="0"/>
              </a:spcAft>
              <a:buSzPts val="3200"/>
              <a:buNone/>
            </a:pPr>
            <a:r>
              <a:rPr lang="en-US" sz="1800"/>
              <a:t>    </a:t>
            </a:r>
            <a:r>
              <a:rPr lang="en-US" sz="2800"/>
              <a:t>Racial Bias - US Healthcare AI Algorithm</a:t>
            </a:r>
            <a:endParaRPr sz="4200"/>
          </a:p>
        </p:txBody>
      </p:sp>
      <p:sp>
        <p:nvSpPr>
          <p:cNvPr id="167" name="Google Shape;167;g1e01ef69504_0_77"/>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n-US" sz="1800"/>
              <a:t>                   There were few AI algorithms used in Healthcare and later was found that these algorithms were</a:t>
            </a:r>
            <a:r>
              <a:rPr lang="en-US" sz="2600"/>
              <a:t> </a:t>
            </a:r>
            <a:r>
              <a:rPr lang="en-US" sz="1800">
                <a:solidFill>
                  <a:srgbClr val="080A12"/>
                </a:solidFill>
              </a:rPr>
              <a:t>prioritizing care coordination for white patients over black patients for the same level of illness. The algorithms was trained on costs in insurance claims data, predicting which patients would be expensive in the future based on who was expensive in the past. Historically, less is spent on black patients than white patients, so the algorithm ended up perpetuating existing bias in healthcare.</a:t>
            </a:r>
            <a:endParaRPr sz="1800"/>
          </a:p>
        </p:txBody>
      </p:sp>
      <p:sp>
        <p:nvSpPr>
          <p:cNvPr id="168" name="Google Shape;168;g1e01ef69504_0_77"/>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1e01ef69504_0_86"/>
          <p:cNvSpPr txBox="1"/>
          <p:nvPr>
            <p:ph type="title"/>
          </p:nvPr>
        </p:nvSpPr>
        <p:spPr>
          <a:xfrm>
            <a:off x="457200" y="133350"/>
            <a:ext cx="6689100" cy="460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360"/>
              </a:spcBef>
              <a:spcAft>
                <a:spcPts val="0"/>
              </a:spcAft>
              <a:buSzPts val="3200"/>
              <a:buNone/>
            </a:pPr>
            <a:r>
              <a:rPr lang="en-US" sz="2800"/>
              <a:t>Algorithm Bias - Microsoft Tay Chatbot</a:t>
            </a:r>
            <a:endParaRPr sz="4200"/>
          </a:p>
        </p:txBody>
      </p:sp>
      <p:sp>
        <p:nvSpPr>
          <p:cNvPr id="175" name="Google Shape;175;g1e01ef69504_0_86"/>
          <p:cNvSpPr txBox="1"/>
          <p:nvPr>
            <p:ph idx="1" type="body"/>
          </p:nvPr>
        </p:nvSpPr>
        <p:spPr>
          <a:xfrm>
            <a:off x="457200" y="1200150"/>
            <a:ext cx="53892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n-US" sz="1800"/>
              <a:t>Tay - “Thinking About You” AI chatbot was designed to learn from people and interact with them on its own. After 16 hours of release it was shut down as people started messing around and taught her inappropriate things. </a:t>
            </a:r>
            <a:endParaRPr sz="1800"/>
          </a:p>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SzPts val="1800"/>
              <a:buNone/>
            </a:pPr>
            <a:r>
              <a:rPr lang="en-US" sz="1800"/>
              <a:t>It is the best example of a saying, “Any AI System learning from bad examples could end up socially inappropriate.”</a:t>
            </a:r>
            <a:endParaRPr sz="1800"/>
          </a:p>
          <a:p>
            <a:pPr indent="0" lvl="0" marL="0" rtl="0" algn="l">
              <a:lnSpc>
                <a:spcPct val="100000"/>
              </a:lnSpc>
              <a:spcBef>
                <a:spcPts val="360"/>
              </a:spcBef>
              <a:spcAft>
                <a:spcPts val="0"/>
              </a:spcAft>
              <a:buSzPts val="1800"/>
              <a:buNone/>
            </a:pPr>
            <a:r>
              <a:t/>
            </a:r>
            <a:endParaRPr sz="1800"/>
          </a:p>
          <a:p>
            <a:pPr indent="0" lvl="0" marL="0" rtl="0" algn="l">
              <a:lnSpc>
                <a:spcPct val="100000"/>
              </a:lnSpc>
              <a:spcBef>
                <a:spcPts val="360"/>
              </a:spcBef>
              <a:spcAft>
                <a:spcPts val="0"/>
              </a:spcAft>
              <a:buSzPts val="1800"/>
              <a:buNone/>
            </a:pPr>
            <a:r>
              <a:t/>
            </a:r>
            <a:endParaRPr sz="1800"/>
          </a:p>
        </p:txBody>
      </p:sp>
      <p:sp>
        <p:nvSpPr>
          <p:cNvPr id="176" name="Google Shape;176;g1e01ef69504_0_86"/>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pic>
        <p:nvPicPr>
          <p:cNvPr id="177" name="Google Shape;177;g1e01ef69504_0_86"/>
          <p:cNvPicPr preferRelativeResize="0"/>
          <p:nvPr/>
        </p:nvPicPr>
        <p:blipFill rotWithShape="1">
          <a:blip r:embed="rId3">
            <a:alphaModFix/>
          </a:blip>
          <a:srcRect b="0" l="0" r="0" t="0"/>
          <a:stretch/>
        </p:blipFill>
        <p:spPr>
          <a:xfrm>
            <a:off x="5998800" y="746550"/>
            <a:ext cx="2992800" cy="2817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sz="2800"/>
              <a:t>AI: Ethics, Bias, Trust</a:t>
            </a:r>
            <a:endParaRPr sz="2800"/>
          </a:p>
        </p:txBody>
      </p:sp>
      <p:sp>
        <p:nvSpPr>
          <p:cNvPr id="183" name="Google Shape;183;p3"/>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lang="en-US" sz="1800"/>
              <a:t>AI is more powerful and ubiquitous. Hence its capabilities will increase and that raises the potential for abuse and misuse of AI technologies.</a:t>
            </a:r>
            <a:endParaRPr/>
          </a:p>
          <a:p>
            <a:pPr indent="0" lvl="0" marL="114300" rtl="0" algn="l">
              <a:lnSpc>
                <a:spcPct val="100000"/>
              </a:lnSpc>
              <a:spcBef>
                <a:spcPts val="360"/>
              </a:spcBef>
              <a:spcAft>
                <a:spcPts val="0"/>
              </a:spcAft>
              <a:buSzPts val="1800"/>
              <a:buNone/>
            </a:pPr>
            <a:r>
              <a:t/>
            </a:r>
            <a:endParaRPr sz="1800"/>
          </a:p>
          <a:p>
            <a:pPr indent="-342900" lvl="0" marL="457200" rtl="0" algn="l">
              <a:lnSpc>
                <a:spcPct val="100000"/>
              </a:lnSpc>
              <a:spcBef>
                <a:spcPts val="360"/>
              </a:spcBef>
              <a:spcAft>
                <a:spcPts val="0"/>
              </a:spcAft>
              <a:buClr>
                <a:schemeClr val="dk1"/>
              </a:buClr>
              <a:buSzPts val="1800"/>
              <a:buChar char="•"/>
            </a:pPr>
            <a:r>
              <a:rPr lang="en-US" sz="1800"/>
              <a:t>Instill human values in AI to build trust. Ethical AI builds trust between humans and machines. </a:t>
            </a:r>
            <a:endParaRPr/>
          </a:p>
          <a:p>
            <a:pPr indent="0" lvl="0" marL="114300" rtl="0" algn="l">
              <a:lnSpc>
                <a:spcPct val="100000"/>
              </a:lnSpc>
              <a:spcBef>
                <a:spcPts val="360"/>
              </a:spcBef>
              <a:spcAft>
                <a:spcPts val="0"/>
              </a:spcAft>
              <a:buSzPts val="1800"/>
              <a:buNone/>
            </a:pPr>
            <a:r>
              <a:t/>
            </a:r>
            <a:endParaRPr sz="1800"/>
          </a:p>
          <a:p>
            <a:pPr indent="-342900" lvl="0" marL="457200" rtl="0" algn="l">
              <a:lnSpc>
                <a:spcPct val="100000"/>
              </a:lnSpc>
              <a:spcBef>
                <a:spcPts val="360"/>
              </a:spcBef>
              <a:spcAft>
                <a:spcPts val="0"/>
              </a:spcAft>
              <a:buClr>
                <a:schemeClr val="dk1"/>
              </a:buClr>
              <a:buSzPts val="1800"/>
              <a:buChar char="•"/>
            </a:pPr>
            <a:r>
              <a:rPr lang="en-US" sz="1800"/>
              <a:t>Mitigate the bias by using large amount of data, pre-processing the data, regularly evaluating the AI system and removing unwanted biases.</a:t>
            </a:r>
            <a:endParaRPr/>
          </a:p>
          <a:p>
            <a:pPr indent="0" lvl="0" marL="114300" rtl="0" algn="l">
              <a:lnSpc>
                <a:spcPct val="100000"/>
              </a:lnSpc>
              <a:spcBef>
                <a:spcPts val="360"/>
              </a:spcBef>
              <a:spcAft>
                <a:spcPts val="0"/>
              </a:spcAft>
              <a:buSzPts val="1800"/>
              <a:buNone/>
            </a:pPr>
            <a:r>
              <a:t/>
            </a:r>
            <a:endParaRPr sz="1800"/>
          </a:p>
          <a:p>
            <a:pPr indent="-342900" lvl="0" marL="457200" rtl="0" algn="l">
              <a:lnSpc>
                <a:spcPct val="100000"/>
              </a:lnSpc>
              <a:spcBef>
                <a:spcPts val="360"/>
              </a:spcBef>
              <a:spcAft>
                <a:spcPts val="0"/>
              </a:spcAft>
              <a:buClr>
                <a:schemeClr val="dk1"/>
              </a:buClr>
              <a:buSzPts val="1800"/>
              <a:buChar char="•"/>
            </a:pPr>
            <a:r>
              <a:rPr lang="en-US" sz="1800"/>
              <a:t>Building trustworthy technology prevents false profiling.</a:t>
            </a:r>
            <a:endParaRPr/>
          </a:p>
          <a:p>
            <a:pPr indent="-228600" lvl="0" marL="457200" rtl="0" algn="l">
              <a:lnSpc>
                <a:spcPct val="100000"/>
              </a:lnSpc>
              <a:spcBef>
                <a:spcPts val="360"/>
              </a:spcBef>
              <a:spcAft>
                <a:spcPts val="0"/>
              </a:spcAft>
              <a:buClr>
                <a:schemeClr val="dk1"/>
              </a:buClr>
              <a:buSzPts val="1800"/>
              <a:buNone/>
            </a:pPr>
            <a:r>
              <a:t/>
            </a:r>
            <a:endParaRPr sz="1800"/>
          </a:p>
        </p:txBody>
      </p:sp>
      <p:sp>
        <p:nvSpPr>
          <p:cNvPr id="184" name="Google Shape;184;p3"/>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1e01ef69504_0_42"/>
          <p:cNvSpPr txBox="1"/>
          <p:nvPr>
            <p:ph type="title"/>
          </p:nvPr>
        </p:nvSpPr>
        <p:spPr>
          <a:xfrm>
            <a:off x="457200" y="133350"/>
            <a:ext cx="50292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lang="en-US"/>
              <a:t>Conclusion</a:t>
            </a:r>
            <a:endParaRPr/>
          </a:p>
        </p:txBody>
      </p:sp>
      <p:sp>
        <p:nvSpPr>
          <p:cNvPr id="191" name="Google Shape;191;g1e01ef69504_0_42"/>
          <p:cNvSpPr txBox="1"/>
          <p:nvPr>
            <p:ph idx="1" type="body"/>
          </p:nvPr>
        </p:nvSpPr>
        <p:spPr>
          <a:xfrm>
            <a:off x="457200" y="1200150"/>
            <a:ext cx="5856000" cy="3394500"/>
          </a:xfrm>
          <a:prstGeom prst="rect">
            <a:avLst/>
          </a:prstGeom>
          <a:noFill/>
          <a:ln>
            <a:noFill/>
          </a:ln>
        </p:spPr>
        <p:txBody>
          <a:bodyPr anchorCtr="0" anchor="t" bIns="45700" lIns="91425" spcFirstLastPara="1" rIns="91425" wrap="square" tIns="45700">
            <a:normAutofit fontScale="40000" lnSpcReduction="10000"/>
          </a:bodyPr>
          <a:lstStyle/>
          <a:p>
            <a:pPr indent="0" lvl="0" marL="0" rtl="0" algn="l">
              <a:lnSpc>
                <a:spcPct val="100000"/>
              </a:lnSpc>
              <a:spcBef>
                <a:spcPts val="360"/>
              </a:spcBef>
              <a:spcAft>
                <a:spcPts val="0"/>
              </a:spcAft>
              <a:buSzPct val="120000"/>
              <a:buNone/>
            </a:pPr>
            <a:r>
              <a:rPr lang="en-US" sz="3750"/>
              <a:t>AI poses significant risk. It is important for organizations to understand these risks and take steps to mitigate them.</a:t>
            </a:r>
            <a:endParaRPr sz="3750"/>
          </a:p>
          <a:p>
            <a:pPr indent="0" lvl="0" marL="0" rtl="0" algn="l">
              <a:lnSpc>
                <a:spcPct val="100000"/>
              </a:lnSpc>
              <a:spcBef>
                <a:spcPts val="360"/>
              </a:spcBef>
              <a:spcAft>
                <a:spcPts val="0"/>
              </a:spcAft>
              <a:buSzPct val="120000"/>
              <a:buNone/>
            </a:pPr>
            <a:r>
              <a:t/>
            </a:r>
            <a:endParaRPr sz="3750"/>
          </a:p>
          <a:p>
            <a:pPr indent="0" lvl="0" marL="0" rtl="0" algn="l">
              <a:lnSpc>
                <a:spcPct val="100000"/>
              </a:lnSpc>
              <a:spcBef>
                <a:spcPts val="360"/>
              </a:spcBef>
              <a:spcAft>
                <a:spcPts val="0"/>
              </a:spcAft>
              <a:buSzPct val="120000"/>
              <a:buNone/>
            </a:pPr>
            <a:r>
              <a:rPr lang="en-US" sz="3750">
                <a:highlight>
                  <a:srgbClr val="FFFFFF"/>
                </a:highlight>
              </a:rPr>
              <a:t>By implementing secure design principles, continuously monitoring and auditing AI systems, and having a framework in place to address bias, we can ensure that </a:t>
            </a:r>
            <a:r>
              <a:rPr lang="en-US" sz="3750"/>
              <a:t>AI technology is used to its fullest potential and not used for any malicious purposes. </a:t>
            </a:r>
            <a:endParaRPr sz="3750"/>
          </a:p>
          <a:p>
            <a:pPr indent="0" lvl="0" marL="0" rtl="0" algn="l">
              <a:lnSpc>
                <a:spcPct val="100000"/>
              </a:lnSpc>
              <a:spcBef>
                <a:spcPts val="360"/>
              </a:spcBef>
              <a:spcAft>
                <a:spcPts val="0"/>
              </a:spcAft>
              <a:buSzPct val="120000"/>
              <a:buNone/>
            </a:pPr>
            <a:r>
              <a:t/>
            </a:r>
            <a:endParaRPr sz="3750"/>
          </a:p>
          <a:p>
            <a:pPr indent="0" lvl="0" marL="0" rtl="0" algn="l">
              <a:lnSpc>
                <a:spcPct val="100000"/>
              </a:lnSpc>
              <a:spcBef>
                <a:spcPts val="360"/>
              </a:spcBef>
              <a:spcAft>
                <a:spcPts val="0"/>
              </a:spcAft>
              <a:buSzPct val="120000"/>
              <a:buNone/>
            </a:pPr>
            <a:r>
              <a:rPr lang="en-US" sz="3750"/>
              <a:t>AI technology should be used responsibly and ethically, and ensure that it is designed to benefit society. </a:t>
            </a:r>
            <a:endParaRPr sz="3750"/>
          </a:p>
          <a:p>
            <a:pPr indent="0" lvl="0" marL="0" rtl="0" algn="l">
              <a:lnSpc>
                <a:spcPct val="100000"/>
              </a:lnSpc>
              <a:spcBef>
                <a:spcPts val="360"/>
              </a:spcBef>
              <a:spcAft>
                <a:spcPts val="0"/>
              </a:spcAft>
              <a:buSzPct val="120000"/>
              <a:buNone/>
            </a:pPr>
            <a:r>
              <a:t/>
            </a:r>
            <a:endParaRPr sz="3750"/>
          </a:p>
          <a:p>
            <a:pPr indent="0" lvl="0" marL="0" rtl="0" algn="l">
              <a:lnSpc>
                <a:spcPct val="100000"/>
              </a:lnSpc>
              <a:spcBef>
                <a:spcPts val="360"/>
              </a:spcBef>
              <a:spcAft>
                <a:spcPts val="0"/>
              </a:spcAft>
              <a:buSzPct val="120000"/>
              <a:buNone/>
            </a:pPr>
            <a:r>
              <a:rPr lang="en-US" sz="3750"/>
              <a:t>As AI becomes more ubiquitous, it is important to build trust between human and machines.</a:t>
            </a:r>
            <a:endParaRPr sz="3750"/>
          </a:p>
          <a:p>
            <a:pPr indent="0" lvl="0" marL="0" rtl="0" algn="l">
              <a:lnSpc>
                <a:spcPct val="100000"/>
              </a:lnSpc>
              <a:spcBef>
                <a:spcPts val="360"/>
              </a:spcBef>
              <a:spcAft>
                <a:spcPts val="0"/>
              </a:spcAft>
              <a:buSzPct val="250000"/>
              <a:buNone/>
            </a:pPr>
            <a:r>
              <a:t/>
            </a:r>
            <a:endParaRPr sz="1800"/>
          </a:p>
          <a:p>
            <a:pPr indent="0" lvl="0" marL="0" rtl="0" algn="l">
              <a:lnSpc>
                <a:spcPct val="100000"/>
              </a:lnSpc>
              <a:spcBef>
                <a:spcPts val="360"/>
              </a:spcBef>
              <a:spcAft>
                <a:spcPts val="0"/>
              </a:spcAft>
              <a:buSzPct val="250000"/>
              <a:buNone/>
            </a:pPr>
            <a:r>
              <a:t/>
            </a:r>
            <a:endParaRPr sz="1800"/>
          </a:p>
        </p:txBody>
      </p:sp>
      <p:sp>
        <p:nvSpPr>
          <p:cNvPr id="192" name="Google Shape;192;g1e01ef69504_0_42"/>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pic>
        <p:nvPicPr>
          <p:cNvPr id="193" name="Google Shape;193;g1e01ef69504_0_42"/>
          <p:cNvPicPr preferRelativeResize="0"/>
          <p:nvPr/>
        </p:nvPicPr>
        <p:blipFill rotWithShape="1">
          <a:blip r:embed="rId3">
            <a:alphaModFix/>
          </a:blip>
          <a:srcRect b="0" l="0" r="0" t="0"/>
          <a:stretch/>
        </p:blipFill>
        <p:spPr>
          <a:xfrm>
            <a:off x="6446375" y="1200150"/>
            <a:ext cx="2355123" cy="235512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Ashok HOME</dc:creator>
</cp:coreProperties>
</file>